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6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7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8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9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1.xml"/></Relationships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2.xml"/></Relationships>
</file>

<file path=ppt/notesSlides/_rels/notesSlide9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3.xml"/></Relationships>
</file>

<file path=ppt/notesSlides/_rels/notesSlide9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4.xml"/></Relationships>
</file>

<file path=ppt/notesSlides/_rels/notesSlide10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开场30秒：本次课《列表与字典：C里没有的武器》，80分钟＝2课时×40分钟。课前已发工单+starter+微课知识卡，资讯·计划线上完成。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议程页30秒：指读六个部分的分钟归属，强调'资讯计划课前已完成'；告诉学生'每次课都知道现在在哪一步、还剩多少时间'。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目录页：给学生'地图感'——翻到哪部分干什么，30秒。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过渡页：一句话点明本部分——先明确这门课'为什么学、学了去哪'。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念'课程性质'一行即可，重点指读'对接证书'与'课程衔接'，让学生知道本课与前后课程的关系（30秒）。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知识地图：先见森林后见树木。指着四条分支预告本课路线，不展开细讲（40秒）。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分支详解一：基础两条线各点一个产线例子，说明'为什么先学这个'。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分支详解二：强调'技能=今天的验收口径'，评价权重即打分表。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课证赛岗对照：说明本课工单在证书/竞赛中的对应考点，30秒。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部分小结：三句话收束定位部分，转流程。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流程预告：强调'资讯·计划已在课前完成'，课堂从决策直接开始。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决策10→实施30→检查5→实施25→评价10；评价环节不压缩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分层节奏：D层跟做保底、C层基础完成、B层标准达成、A层进阶拓展；每人按工单勾选自己的层，每4周动态升降。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产业数据卡：让学生看到'学的技能=产线的数字'，建立真实感。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部分小结：时间盒+分层节奏收束，转目标。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PRIMM的Predict：先让学生猜，再揭晓。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目标解读：点读1-2个关键动词（能编写/能诊断/能部署），说明这就是今天工单的验收口径。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课前测讲评：随机点2名学生说答案，只追问'为什么'，不展开讲；错得多的题记到'检查'环节再回收。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逐题精讲：只讲错得最多的题——其余对答案即可。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快问快答：同桌互问30秒，举手表决；答案不公布，留到知识精讲验证。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情境说书（30秒，口头讲，不必逐字念）：实习第一天，吴工丢来一份《新员工Python能力测评》：'你C语言底子不错，今天把这五道题过了，明天进项目组。'——工单P1.1：五题闯关，完成从C到Python的迁移。</a:t>
            </a:r>
          </a:p>
          <a:p>
            <a:r>
              <a:t>讲完抛出问题：'如果是你，第一步先干什么？'——自然过渡到决策环节。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剧情拆解：把情境页的故事拆成三要素，让学生明确'解决什么'。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目标对照页：逐维读目标，指读达标口径=评分表，目标可测可评。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随堂自测：先答后揭晓，答对记过程分——为目标达成做第一次探测。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部分小结：目标+剧情+自测收束，转知识精讲。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知识精讲开始：每条知识对应一张大卡，讲法'先例后理'。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知识卡1：C→Python映射：声明→动态/大括号→缩进/指针→引用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知识卡2：引用语义：b=a后改b会动a(列表不拷贝)——应用：import copy; b=copy.deepcopy(a)——浅拷贝改b动a，深拷贝才安全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应用页2：把知识点放回产线场景——先看代码输出，再回看定义，强化'学以致用'。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知识卡3：列表append动态扩容；字典O(1)查找——应用：buffer.append(row); len(buffer)&gt;=1000时批量写库——无需预分配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应用页3：把知识点放回产线场景——先看代码输出，再回看定义，强化'学以致用'。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知识卡4：try/except替代错误码层层上抛——应用：try:conn=connect() except TimeoutError as e:log(e);retry()——异常分层捕获不丢栈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应用页4：把知识点放回产线场景——先看代码输出，再回看定义，强化'学以致用'。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知识卡5：类=struct+函数指针的升级——应用：class Device: code=''; def start(self):...——数据+行为打包，比C的struct+函数指针更安全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应用页5：把知识点放回产线场景——先看代码输出，再回看定义，强化'学以致用'。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知识卡6：缩进统一4空格禁Tab混用——应用：见工单starter与教师参考实现</a:t>
            </a:r>
          </a:p>
          <a:p>
            <a:r>
              <a:t>讲法：先给一个车间/产线的例子，再给定义；讲完随机点1名学生用自己的话复述（每个30-60秒，控制节奏）。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应用页6：把知识点放回产线场景——先看代码输出，再回看定义，强化'学以致用'。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快查核对：遮住左栏让学生说右栏含义；全对的小组加过程分。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深化讲解：面向A/B层的进阶理解，C/D层听懂结论即可。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深化展开：每条要点配一个'为什么'，A层准备2分钟费曼讲解。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技能点＝今天'做完你应该会'，逐条对应工单步骤与评分点。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技能展开：逐条读技能，指读工单对应步骤——把'学'和'考'对齐。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实施内容清单：本页条目与工单步骤一一对应，逐项过一遍即可，细节留到代码演示。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现场演示《引用vs拷贝(C人必踩)》：三步走——先整段跑通看结果，再逐行讲关键语句，最后现场改一个参数看输出变化（演10分钟的核心素材）。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现场演示《异常读取》：三步走——先整段跑通看结果，再逐行讲关键语句，最后现场改一个参数看输出变化（演10分钟的核心素材）。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代码走读：一页拆一段——学生跟着读，不是抄。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流程图页：可快速带过，作为'我们现在在哪一步'的路标。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强调柱状图最右两根：实施二25分钟是冲优秀的时间，评价10分钟不压缩——当堂评分、24小时内反馈。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进入实施：先决策、再领工单、按层执行。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决策矩阵用法（10分钟）：组内对备选方案打分→选型→把结论和理由写进工单'决策记录'栏；教师抽查2组口头说理由（决策追责）。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方案对比：三问框架通用——以后每个决策环节都用这三问。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工单发布话术：'数字化转型办公室发来工单P1.1《Python基础练习五题》，及格线是≥，优秀线看A层标准'——念完发starter。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D层·学徒：跟做保底。教师或屏幕领做，做完即达标，绝不留白。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C层·操作员：基础完成。按工单步骤独立完成，卡壳先查错误速查表。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B层·组长：标准达成。全部功能+规范，完成后帮带同组D/C层。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A层·师傅：进阶拓展。完成拓展任务并准备2分钟展示；费曼式讲给D层听。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A层步骤详解：逐条读步骤——D层照着做，A层做完讲给别人。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避坑清单：每条问'为什么会踩'，点名学生解释，把'注意'变成'知道为什么注意'。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错误速查：现场演示第一条——制造「b改a也变」，带着学生按'现象→原因→解决'三步排查。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先让学生说排查顺序再给提示：训练'看报错信息'的条件反射。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四层总览：一页看全四层目标与达标线——学生选层前先看全局。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核对清单：把工单步骤变成checklist，做完勾选——防漏做。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最后一查：五项90秒自查——退回率最低的五个点。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部分小结：实施收束，转检查评价。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收尾5分钟检查+10分钟评价。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三层质检组织：自查明细→同伴互查（签字）→教师抽查2组；查出的缺陷当场修，修不完记入课后任务。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提交强调：文件命名'学号_姓名_工单号.zip'，24小时内教师在平台反馈评分。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教材衔接：教材：Python程序设计项目化教程（活页式）（任越美 李垒 李江岱 主编，978-7-313-30507-7）— 项目1 | 预习知识点：Python基础回顾(C→Python迁移)；venv虚拟环境 | 课中检查知识点：五题闯关全过；能创建venv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素养页：结合本课内容点一个真实案例（如数据脱敏、代码抄袭后果），30秒即可。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提醒：运行截图/实拍照片贴到工单过程记录栏，作为过程性考核证据。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评分细则：四级量表逐行读——学生知道自己'到哪条线得多少分'。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FAQ三题：覆盖装包/启动/规范三大高频问题——贴在工单背面。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资源导航：五级求助顺序=工单→starter→指南→notebook→教师。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部分小结：评价收束。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拓展部分：A层必看，B层选看，C/D层课后看——差异化作业。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产业案例：讲一个真实岗位场景，把课堂技能挂到职业坐标系。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思政页：结合本课内容点一个真实案例，30秒即可，不贴标签。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学习策略：四个方法贯穿全学期——第一周讲透，以后每周复用。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进阶路线：把一门课放进三年坐标系——学完这周能走到哪。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达标预期：四层的预期比例——D层100%保底是底线承诺。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预习清单：三项任务5-15分钟——闭环从课前开始。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口袋书：三条概念卡——期末汇总成全册，学生自查工具。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好差对比：两份同功能输出对比——规范分不是白给的。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图谱回顾：回到开课的地图——现在每条分支都走过了。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场景应对：四种状态四种动作——课堂自主运转的说明书。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微课资源：四个自学入口——补弱看微课，拓强看多解法。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答辩预演：每周2分钟练一环——期末不慌。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实录清单：过程性考核的取证清单——学生自查，教师抽查。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多解法页：同一工单三种深度——层不同，解法不同，都算对。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自测答案：逐题讲'为什么'——错题定位到知识卡编号。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一图流总结：五句话收束全天——知识/技能/交付/习惯/明日。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Git工具箱：投屏演示一遍四步——学生跟着做一次就记住了。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conda工具箱：三个命令一页——换课/换机先跑这三条。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PyCharm工具箱：五个键每天用——现场带练一遍。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下课提醒：关机→椅归位→带走工单；教师课后24h内完成反馈。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下次课预告：布置课前微课知识卡与导学单，形成学习闭环。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2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3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4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5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6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8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9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0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2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3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4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5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6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8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9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0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2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3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4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5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6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8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9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Python程序设计（项目实战）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列表与字典：C里没有的武器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第一周 · 第2次课（2课时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 ·  理实一体  ·  配套：分层工单+starter  ·  本课主用：PyCharm CE + conda环境(pp03) + Git/GitHub（每周提交）</a:t>
            </a:r>
          </a:p>
        </p:txBody>
      </p:sp>
      <p:pic>
        <p:nvPicPr>
          <p:cNvPr id="7" name="Picture 6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性质·岗位·证书：为什么学这门课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80分钟时间盒与ABCD分层节奏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带着目标进课堂+两江智造本课剧情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基础知识大卡+代码演示（先例后理）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工单发布·分层执行·避坑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三层质检·当堂评分·课后任务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资讯·计划已于课前线上完成——课堂从决策/演示直接开始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105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本课目录（结构速览）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①课程定位：定位/知识地图/课证赛岗——为什么学这门课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②课堂流程：80分钟时间盒/分层节奏——今天怎么安排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③目标与情境：三维目标/剧情拆解/随堂自测——学什么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④知识精讲：知识卡×应用×深化×代码走读——怎么教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⑤任务实施：工单/四层任务/避坑/核对清单——怎么做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5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4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⑥检查评价+⑦拓展：质检/评分/工具箱/一图流——怎么收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105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本课在课程体系中的位置（课程标准摘录）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105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课程定位：Python程序设计（项目实战）（课程标准摘录）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626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6000" y="1880000"/>
            <a:ext cx="2652500" cy="56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6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自包含工程应用课：C语言底子直接上工业项目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8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88500" y="1880000"/>
            <a:ext cx="2652500" cy="5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88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18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数据工程师、数据分析、AI应用、采集技术员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10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51000" y="1880000"/>
            <a:ext cx="2652500" cy="56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510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10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Python开发、数据应用与服务（1+X）、AI应用实践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913500" y="1880000"/>
            <a:ext cx="2652500" cy="427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913500" y="1880000"/>
            <a:ext cx="2652500" cy="5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13500" y="2030000"/>
            <a:ext cx="2652500" cy="3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50" b="1">
                <a:solidFill>
                  <a:srgbClr val="FFFFFF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43500" y="2540000"/>
            <a:ext cx="2392500" cy="349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前置仅需C语言 → 本课(第1-8周) → 后：毕业设计/平台实习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105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列表与字典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：C里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C→Python映射：声明→动态/大括号→缩进/指针→引用 · 引用语义：b=a后改b会动a(列表不拷贝)——应用：import copy; b=copy.deepcopy(a)——浅拷贝改b动a，深拷贝才安全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列表append动态扩容；字典O(1)查找——应用：buffer.append(row); len(buffer)&gt;=1000时批量写库——无需预分配 · try/except替代错误码层层上抛——应用：try:conn=connect() except TimeoutError as e:log(e);retry()——异常分层捕获不丢栈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双栏对照法完成语法迁移——应用：见工单starter与教师参考实现 · 五题渐进练习全通过pytest断言——应用：见工单starter与教师参考实现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105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知识地图分支详解（一）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基础知识线：C→Python映射：声明→动态/大括号→缩进/指针→引用；引用语义：b=a后改b会动a(列表不拷贝)——应用：import copy; b=copy.deepcopy(a)——浅拷贝改b动a，深拷贝才安全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继续夯实线：列表append动态扩容；字典O(1)查找——应用：buffer.append(row); len(buffer)&gt;=1000时批量写库——无需预分配；try/except替代错误码层层上抛——应用：try:conn=connect() except TimeoutError as e:log(e);retry()——异常分层捕获不丢栈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4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两条线的关系：先打地基（概念/类型），再上楼层（组合应用）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学法提示：每条知识都配'车间例子'，先例后理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105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知识地图分支详解（二）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技能线：双栏对照法完成语法迁移——应用：见工单starter与教师参考实现；五题渐进练习全通过pytest断言——应用：见工单starter与教师参考实现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3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分层任务线：D跟做→C独立→B帮带→A拓展（每4周动态升降）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课堂评价线：功能40%+技术25%+规范20%+素养15%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三条线闭环：技能靠任务练，任务按评价收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105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岗课赛证对照（本课坐标）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数字化转型办公室：数据工程师、数据分析工程师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P1.1《Python基础练习五题》——本课工单即考核单元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Python开发职业技能等级证书（工信部）——工程模板/数据处理对应中级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世界职业院校技能大赛（人工智能赛道）数据采集/处理赛项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105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本课在课程体系：自包含工程应用课：C语言底子直接上工业项目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知识地图五分支：基础→夯实→技能→分层→评价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岗课赛证四维坐标已明确，带着目标进课堂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105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80分钟时间盒与个人节奏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105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105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105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两江智造产线运营指标（虚拟产线月度数据）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2946000" y="2740000"/>
            <a:ext cx="1400000" cy="266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6000" y="21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95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清洗后数据可用率(%)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46000" y="5344000"/>
            <a:ext cx="1400000" cy="56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000" y="4784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仪表盘刷新延时(s)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46000" y="2600000"/>
            <a:ext cx="1400000" cy="28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日报自动生成率(%)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数据来自虚拟产线五件套——你写的代码就在处理这些数据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105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课堂流程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六步法：决策10→实施30→检查5→实施25→评价10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分层节奏：D/C/B/A各就各位，每4周动态升降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评价环节10分钟不压缩——当堂评分、24小时反馈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105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带着目标进课堂（Predict·预测）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105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完成C→Python的语法映射认知；掌握列表、字典等C语言没有的数据结构；理解Python引用语义与异常处理机制。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能够独立完成5个Python基础练习题（及格≥3题正确运行）；代码PEP 8规范达75%；具备基本的调试排错能力。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建立多语言工程视野，体会“语言是工具、问题是中心”的工程观，为快速学习新语言建立方法论。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105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知识目标：怎么学·怎么证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目标：完成C→Python的语法映射认知；掌握列表、字典等C语言没有的数据结构；理解Python引用语义与异常处理机制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怎么学：知识卡先例后理→快查核对→应用页回到产线场景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怎么证：课前quiz+随堂自测+工单'技术质量25%'项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达标线：能复述定义+能说出产线例子=过关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105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能力目标：怎么练·怎么证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目标：能够独立完成5个Python基础练习题（及格≥3题正确运行）；代码PEP 8规范达75%；具备基本的调试排错能力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怎么练：starter跟做（D）→独立完成（C）→规范+帮带（B）→拓展（A）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怎么证：工单'功能40%'全项+运行截图贴过程记录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达标线：代码能跑+输出符合工单样例=过关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105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素质目标：怎么养·怎么证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目标：建立多语言工程视野，体会“语言是工具、问题是中心”的工程观，为快速学习新语言建立方法论。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怎么养：规范命名/及时提交/报错必究——每个工单都在练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怎么证：Git提交历史（每周≥1次）+工单'素养15%'项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达标线：提交记录连续+命名规范=过关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105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缩进即语法——你踩过哪些C习惯的坑？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模板仓库已克隆更新；导学单与实施计划已提交平台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105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课前测逐题精讲（错得最多的那道）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题目：缩进即语法——你踩过哪些C习惯的坑？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正确思路：从'考哪个知识卡'入手——先定位再作答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常见错误：背概念不看场景；看到代码就慌，先读注释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本课回收：这道题的考点会在知识卡X和随堂自测中再次出现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105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1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缩进即语法——你踩过哪些C习惯的坑？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except (ValueError, TypeError)多类型元组捕获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105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数字化转型办公室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实习第一天，吴工丢来一份《新员工Python能力测评》：'你C语言底子不错，今天把这五道题过了，明天进项目组。'——工单P1.1：五题闯关，完成从C到Python的迁移。</a:t>
            </a:r>
          </a:p>
        </p:txBody>
      </p:sp>
      <p:pic>
        <p:nvPicPr>
          <p:cNvPr id="9" name="Picture 8" descr="W1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105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剧情拆解：任务 → 冲突 → 你的决策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任务背景：实习第一天，吴工丢来一份《新员工Python能力测评》：'你C语言底子不错，今天把这五道题过了，明天进项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冲突点：产线数据量大/格式杂/时限紧——手工做不完，必须编程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决策点：先做什么再做什么？数据从哪来？输出给谁看？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带着这三个问题进入知识精讲——每个知识点都是解药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105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三维目标 → 怎么算达标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完成C→Python的语法映射认知；掌握列表、字典等C语言没有的数据结构；理解Python引用语义与异常处理机制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能够独立完成5个Python基础练习题（及格≥3题正确运行）；代码PEP 8规范达75%；具备基本的调试排错能力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建立多语言工程视野，体会“语言是工具、问题是中心”的工程观，为快速学习新语言建立方法论。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达标口径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对应工单P1.1评分：功能40%+技术25%+规范20%+素养15%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105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3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缩进即语法——你踩过哪些C习惯的坑？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105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4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排错题：出现「b改a也变」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原因：引用语义；解决：list(a)或a.copy()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105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5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C→Python映射：声明→动态/大括号→缩进/指针→引用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105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目标与资讯·情境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三维目标已明确，达标口径=工单评分表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剧情任务：实习第一天，吴工丢来一份《新员工Python能力测评》：'你C语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64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54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随堂自测完成第一次探测，带着问题进精讲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105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详解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105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C→Python映射：声明→动态/大括号→缩进/指针→引用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105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引用语义：b=a后改b会动a(列表不拷贝)——应用：import copy; b=copy.deepcopy(a)——浅拷贝改b动a，深拷贝才安全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105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知识应用（2）：引用语义：b=a后改b会动a(列表不拷贝)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引用语义：b=a后改b会动a(列表不拷贝)。在两江智造产线上的用法：import copy; b=copy.deepcopy(a)——浅拷贝改b动a，深拷贝才安全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import copy; b=copy.deepcopy(a)——浅拷贝改b动a，深拷贝才安全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105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列表append动态扩容；字典O(1)查找——应用：buffer.append(row); len(buffer)&gt;=1000时批量写库——无需预分配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105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知识应用（3）：列表append动态扩容；字典O(1)查找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列表append动态扩容；字典O(1)查找。在两江智造产线上的用法：buffer.append(row); len(buffer)&gt;=1000时批量写库——无需预分配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buffer.append(row); len(buffer)&gt;=1000时批量写库——无需预分配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105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try/except替代错误码层层上抛——应用：try:conn=connect() except TimeoutError as e:log(e);retry()——异常分层捕获不丢栈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105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知识应用（4）：try/except替代错误码层层上抛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try/except替代错误码层层上抛。在两江智造产线上的用法：try:conn=connect() except TimeoutError as e:log(e);retry()——异常分层捕获不丢栈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try:conn=connect() except TimeoutError as e:log(e);retry()——异常分层捕获不丢栈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105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类=struct+函数指针的升级——应用：class Device: code=''; def start(self):...——数据+行为打包，比C的struct+函数指针更安全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39 / 105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知识应用（5）：类=struct+函数指针的升级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类=struct+函数指针的升级。在两江智造产线上的用法：class Device: code=''; def start(self):...——数据+行为打包，比C的struct+函数指针更安全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0000" y="4680000"/>
            <a:ext cx="10900000" cy="165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0000" y="4680000"/>
            <a:ext cx="10900000" cy="1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0000" y="4860000"/>
            <a:ext cx="10300000" cy="13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class Device: code=''; def start(self):...——数据+行为打包，比C的struct+函数指针更安全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40 / 105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缩进统一4空格禁Tab混用——应用：见工单starter与教师参考实现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41 / 105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知识应用（6）：缩进统一4空格禁Tab混用</a:t>
            </a:r>
          </a:p>
        </p:txBody>
      </p:sp>
      <p:sp>
        <p:nvSpPr>
          <p:cNvPr id="7" name="Rectangle 6"/>
          <p:cNvSpPr/>
          <p:nvPr/>
        </p:nvSpPr>
        <p:spPr>
          <a:xfrm>
            <a:off x="760000" y="1750000"/>
            <a:ext cx="10900000" cy="9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1900000"/>
            <a:ext cx="10300000" cy="6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◆ 两江智造应用场景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80000"/>
            <a:ext cx="10900000" cy="175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0000" y="2920000"/>
            <a:ext cx="103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缩进统一4空格禁Tab混用。在两江智造产线上的用法：见工单starter与教师参考实现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42 / 105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C→Python映射：声明→动态/大括号→缩进/指针→引用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引用语义：b=a后改b会动a(列表不拷贝)——应用：import copy; b=copy.deepcopy(a)——浅拷贝改b动a，深拷贝才安全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列表append动态扩容；字典O(1)查找——应用：buffer.append(row); len(buffer)&gt;=1000时批量写库——无需预分配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try/except替代错误码层层上抛——应用：try:conn=connect() except TimeoutError as e:log(e);retry()——异常分层捕获不丢栈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类=struct+函数指针的升级——应用：class Device: code=''; def start(self):...——数据+行为打包，比C的struct+函数指针更安全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72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43 / 105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知识详解（讲）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0000" y="20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知识点1  异常处理的C思维对比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0000" y="26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C靠返回值判断错误码层层上抛；Python用try/except在合适层级统一接住——关注点分离，主流程干净。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4200000"/>
            <a:ext cx="10900000" cy="21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4200000"/>
            <a:ext cx="130000" cy="21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0000" y="4320000"/>
            <a:ext cx="2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知识点2  类语法最小集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0000" y="4920000"/>
            <a:ext cx="10200000" cy="1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class名、__init__、self、方法四件套即可起步；继承super()一行——够用就好，别过度设计。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44 / 105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深化理解：逐条讲透（A层费曼素材）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要点1：('异常处理的C思维对比', 'C靠返回值判断错误码层层上抛；Python用try/except在合适层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要点2：('类语法最小集', 'class名、__init__、self、方法四件套即可起步；继承super()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学法：A层用自己的话讲给D层听——讲得清才是真懂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45 / 105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双栏对照法完成语法迁移——应用：见工单starter与教师参考实现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五题渐进练习全通过pytest断言——应用：见工单starter与教师参考实现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异常保护文件读取——应用：见工单starter与教师参考实现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编写C→Python迁移笔记——应用：见工单starter与教师参考实现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46 / 105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 → 工单步骤 → 得分点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技能1：双栏对照法完成语法迁移——应用：见工单starter与教师参考实现 → 对应工单步骤1，占功能分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技能2：五题渐进练习全通过pytest断言——应用：见工单starter与教师参考实现 → 对应工单步骤2，占功能分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0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技能3：异常保护文件读取——应用：见工单starter与教师参考实现 → 对应工单步骤3，占功能分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9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8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技能4：编写C→Python迁移笔记——应用：见工单starter与教师参考实现 → 对应工单步骤4，占功能分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9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8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提示：技能点全部来自工单评分点——练技能=挣分数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47 / 105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列表与字典：C里没有的武器（1）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列表与元组：动态数组能力、切片操作；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字典：键值映射、与C结构体的对照；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面向对象基础：类、对象、属性、方法（C结构体+函数指针的升级视角）；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异常处理：try/except/finally；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工单P1.1实操：完成5个渐进式练习题（数据类型⭐/控制流⭐⭐/列表字典⭐⭐/类与对象⭐⭐⭐/异常处理⭐⭐）。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48 / 105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关键代码：引用vs拷贝(C人必踩)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a = [1, 2, 3]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b = a              # 引用!类似指针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b.append(4)        # a也变了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c = list(a)        # 真拷贝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49 / 105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代码走读：《引用vs拷贝(C人必踩)》逐段拆解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行1：a = [1, 2, 3]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行2：b = a              # 引用!类似指针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行3：b.append(4)        # a也变了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行4：c = list(a)        # 真拷贝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50 / 105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关键代码：异常读取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try: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with open(path, encoding="utf-8") as f: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return f.read()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except FileNotFoundError: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return "FILE_NOT_FOUND"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51 / 105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代码走读：《异常读取》逐段拆解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行1：try: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行2：with open(path, encoding="utf-8") as f: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行3：return f.read()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行4：except FileNotFoundError: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1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0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行5：return "FILE_NOT_FOUND"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0000" y="58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00000" y="57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读法：先看每行的输出→再问'为什么这么写'→最后改参数看变化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52 / 105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六步法课堂化（资讯计划课前完成）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8" name="Rectangle 7"/>
          <p:cNvSpPr/>
          <p:nvPr/>
        </p:nvSpPr>
        <p:spPr>
          <a:xfrm>
            <a:off x="25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决策10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96000" y="2600000"/>
            <a:ext cx="1600000" cy="15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实施一30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6000" y="2600000"/>
            <a:ext cx="1600000" cy="15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检查5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96000" y="2600000"/>
            <a:ext cx="1600000" cy="15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实施二25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96000" y="3120000"/>
            <a:ext cx="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5670F"/>
                </a:solidFill>
                <a:latin typeface="微软雅黑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796000" y="2600000"/>
            <a:ext cx="160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56000" y="2720000"/>
            <a:ext cx="1480000" cy="13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评价10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0000" y="46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时间单位: 分钟（除标注外）｜合计80分钟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53 / 105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466667"/>
            <a:ext cx="1400000" cy="933333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933334"/>
            <a:ext cx="1400000" cy="466666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373334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066667"/>
            <a:ext cx="1400000" cy="2333333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5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466667"/>
            <a:ext cx="1400000" cy="933333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3906667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评价环节不压缩：10分钟当堂评分+24小时反馈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54 / 105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步骤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55 / 105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决策：题3容器选型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需求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list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dict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元组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按ID查设备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7" name="Rectangle 16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19" name="Rectangle 18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1" name="Rectangle 20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保持顺序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5" name="Rectangle 24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7" name="Rectangle 26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ID不可变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5" name="Rectangle 34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/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决策结论写入工单，答辩必答；实施失误回溯决策复盘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56 / 105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决策怎么下：方案对比三问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本课决策题：决策：题3容器选型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问①可行吗——每个方案的实现路径走得通吗（技术风险）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问②值吗——开发时间/运行速度/可维护性三角权衡（工程账）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问③谁拍板——组内数据说话，理由写进工单（决策追责制）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规则：没有记录的决策=没有决策——写下来才算数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57 / 105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实施任务：工单P1.1《Python基础练习五题》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题5: 带异常保护的文件读取器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全部过pytest断言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整理《C→Python迁移对照笔记》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≥3题正确+PEP8≥75%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5题全对+每题测试用例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58 / 105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两题跟做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跟做题1/2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改参数再跑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记录一处差异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能运行出结果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59 / 105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D层·学徒：步骤怎么走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第1步：跟做题1/2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第2步：改参数再跑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第3步：记录一处差异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达标自检：能运行出结果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60 / 105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三题保底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换算器+方程+字典管理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断言通过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注释补全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题1-3正确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61 / 105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C层·操作员：步骤怎么走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第1步：换算器+方程+字典管理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第2步：断言通过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第3步：注释补全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达标自检：题1-3正确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62 / 105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五题全对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完成题1-5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过内置断言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命名规范检查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PEP8≥85%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63 / 105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B层·组长：步骤怎么走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第1步：完成题1-5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第2步：过内置断言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第3步：命名规范检查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达标自检：PEP8≥85%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64 / 105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五题+测试用例+讲解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每题附3边界断言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pytest全绿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挑1条向全班讲解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98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6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PEP8≥85%+笔记10条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50" b="0">
                <a:solidFill>
                  <a:srgbClr val="44546A"/>
                </a:solidFill>
                <a:latin typeface="微软雅黑"/>
              </a:rPr>
              <a:t>(A层加码: 写《C→Python迁移笔记》10条，挑1条向全班讲解)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65 / 105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A层·师傅：步骤怎么走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第1步：每题附3边界断言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第2步：pytest全绿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第3步：挑1条向全班讲解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达标自检：PEP8≥85%+笔记10条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66 / 105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实施步骤与注意事项（做）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850000"/>
            <a:ext cx="6300000" cy="41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980000"/>
            <a:ext cx="5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545E8"/>
                </a:solidFill>
                <a:latin typeface="微软雅黑"/>
              </a:rPr>
              <a:t>实施步骤</a:t>
            </a:r>
          </a:p>
        </p:txBody>
      </p:sp>
      <p:sp>
        <p:nvSpPr>
          <p:cNvPr id="7" name="Rectangle 6"/>
          <p:cNvSpPr/>
          <p:nvPr/>
        </p:nvSpPr>
        <p:spPr>
          <a:xfrm>
            <a:off x="920000" y="266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20000" y="268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20000" y="260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题5: 带异常保护的文件读取器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0000" y="299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20000" y="301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20000" y="293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全部过pytest断言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0000" y="3320000"/>
            <a:ext cx="480000" cy="4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0000" y="3340000"/>
            <a:ext cx="480000" cy="4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20000" y="3260000"/>
            <a:ext cx="53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整理《C→Python迁移对照笔记》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50000" y="1850000"/>
            <a:ext cx="4300000" cy="410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50000" y="1980000"/>
            <a:ext cx="395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5670F"/>
                </a:solidFill>
                <a:latin typeface="微软雅黑"/>
              </a:rPr>
              <a:t>⚠ 注意事项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50000" y="2600000"/>
            <a:ext cx="3950000" cy="3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except (ValueError, TypeError)多类型元组捕获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文件读用with，别手动close</a:t>
            </a:r>
          </a:p>
          <a:p>
            <a:pPr algn="l">
              <a:lnSpc>
                <a:spcPct val="13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五题按难度递进做，卡住先看对照表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67 / 105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b改a也变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引用语义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list(a)或a.copy()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混用Tab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跨编辑器报错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统一4空格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=当==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条件失效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比较用==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68 / 105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课堂即时练习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2000000"/>
            <a:ext cx="10900000" cy="1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2000000"/>
            <a:ext cx="150000" cy="1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2150000"/>
            <a:ext cx="10400000" cy="1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题目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运行时出现「b改a也变」，你的排查顺序是？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42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提示: 提示: 原因是引用语义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53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⏱ 3分钟 · 同桌互查 · 举手验证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69 / 105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ABCD四层任务总览（先看全貌再领任务）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D·学徒（≥60）：两题跟做——跟做保底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C·操作员（≥70）：三题保底——基础完成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B·组长（≥80）：五题全对——标准达成+帮带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A·师傅（≥90）：五题+测试用例+讲解——进阶拓展+费曼讲解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规则：每人按工单勾选自己的层；每4周按达标情况动态升降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70 / 105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操作核对清单（做完一条勾一条）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步骤1：题5: 带异常保护的文件读取器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步骤2：全部过pytest断言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步骤3：整理《C→Python迁移对照笔记》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全部勾完→同桌互查签字→提交工单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71 / 105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提交前最后一查（90秒）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代码能从头跑到尾不报错（python xx.py再跑一遍）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输出格式符合工单样例（对齐/单位/小数位）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文件命名：学号_姓名_工单号.py（不对=扣规范分）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运行截图已贴工单过程记录栏（过程性证据）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conda环境正确（提示符显示(pp03）再运行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72 / 105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任务实施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工单P1.1已发布，四层任务各自认领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避坑清单+错误速查在手，卡壳先自查再举手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操作核对清单做完勾选，提交前90秒最后一查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73 / 105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74 / 105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75 / 105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提交物与评分（工单P1.1）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学号_姓名_P1.1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76 / 105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总结评价与课后任务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10600000" cy="15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050000"/>
            <a:ext cx="103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评价（10分钟）：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按D/C/B/A量表当堂评分；工单24小时内反馈评语与改进建议。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000" y="370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1. 完成工单P1.1《Python基础练习五题》：及格标准≥3题正确+PEP 8≥75%；优秀标准5题全对+PEP 8≥85%+命名有意义；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000" y="442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2. 整理个人《C→Python迁移对照笔记》；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000" y="5140000"/>
            <a:ext cx="106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400" b="0">
                <a:solidFill>
                  <a:srgbClr val="010328"/>
                </a:solidFill>
                <a:latin typeface="微软雅黑"/>
              </a:rPr>
              <a:t>3. 预习PEP 8规范与Git基础操作。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000" y="5960000"/>
            <a:ext cx="10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下次课预告：</a:t>
            </a:r>
            <a:r>
              <a:rPr sz="1300" b="0">
                <a:solidFill>
                  <a:srgbClr val="44546A"/>
                </a:solidFill>
                <a:latin typeface="微软雅黑"/>
              </a:rPr>
              <a:t>见下次课工单任务书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77 / 105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工程责任：代码可维护、文档完整、测试先行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绿色计算：向量化省算力, 批量写入降开销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职业规划：以项目档案袋对接岗位与竞赛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78 / 105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课堂实况与运行截图（教师课后替换）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7" name="Rectangle 6"/>
          <p:cNvSpPr/>
          <p:nvPr/>
        </p:nvSpPr>
        <p:spPr>
          <a:xfrm>
            <a:off x="70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9" name="Rectangle 8"/>
          <p:cNvSpPr/>
          <p:nvPr/>
        </p:nvSpPr>
        <p:spPr>
          <a:xfrm>
            <a:off x="5560000" y="19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560000" y="25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0000" y="3700000"/>
            <a:ext cx="4600000" cy="160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60000" y="4320000"/>
            <a:ext cx="4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［插入运行截图 / 实拍照片］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79 / 105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工单评分细则（四级量表）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等级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对应要求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A·师傅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≥90分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进阶拓展完成+2分钟费曼展示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B·组长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≥80分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全功能+代码规范+帮带D/C层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C·操作员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≥70分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基础功能完成+错误速查自查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0000" y="456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0000" y="466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D·学徒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≥60分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00000" y="456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00000" y="466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跟做完成核心步骤+达标自评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530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功能40%+技术质量25%+代码规范20%+工程素养15%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80 / 105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高频FAQ（先自查再举手）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pandas读取大CSV慢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usecols选列+chunksize分块读，见W3微课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Modbus连接拒绝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先起plc_simulator再连5020；确认host是教师机IP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streamlit页面不刷新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改代码后浏览器右上Rerun或按R键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81 / 105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资源导航（卡住时按顺序查）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P1.1任务书——步骤/及格线/评分细则都在里面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starter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学生代码框架/——TODO注释即步骤提示，未填也能跑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软件指南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../软件操作指南/——PyCharm/Jupyter/Git/Anaconda六份图文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Jupyter实训/——本周notebook师生版，先跑教师版看答案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Git提交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做完按Ctrl+K提交推送——每周至少1次，工程素养分依据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82 / 105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检查与评价 · 小结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2800000" cy="42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3300000"/>
            <a:ext cx="2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0000" y="4300000"/>
            <a:ext cx="2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部分小结</a:t>
            </a:r>
          </a:p>
        </p:txBody>
      </p:sp>
      <p:sp>
        <p:nvSpPr>
          <p:cNvPr id="8" name="Rectangle 7"/>
          <p:cNvSpPr/>
          <p:nvPr/>
        </p:nvSpPr>
        <p:spPr>
          <a:xfrm>
            <a:off x="3900000" y="20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80000" y="19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三层质检：自检→互查签字→教师抽查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00000" y="27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80000" y="26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评分四级量表+四权重已明确，24小时内平台反馈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900000" y="3400000"/>
            <a:ext cx="140000" cy="1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80000" y="3300000"/>
            <a:ext cx="76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课后任务+下次课预告形成学习闭环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83 / 105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07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拓展与自测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把今天的能力圈再画大一圈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84 / 105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产业应用案例（学这个能干什么）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真实场景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三个系统的数据格式不统一，周报要人工合并两小时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用什么解决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Pandas管道+Streamlit仪表盘，一键刷新自动出周报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本课对应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P1.1的技能点即其最小实现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延伸方向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下一步：模型预警（P6）/智能运维平台（P7选做）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85 / 105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课程思政：如盐入水（30秒一个点）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报错必究——每个红色报错都是产线隐患的预演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数据诚信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指标不许造假——改数字骗过测试=产线事故的起点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协作素养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ABCD轮换履职——师傅带徒弟，贡献表如实填报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职业底线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代码抄作业=岗位上的'无证驾驶'，害人害己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86 / 105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学习策略：这门课怎么学最有效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先例后理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先跑代码看结果，再回头懂原理——PRIMM教学法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费曼技巧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A层讲给D层听——讲得清才是真懂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错题资产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每个报错记入错误速查表——期末它是你的复习宝典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提交习惯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小步提交（每完成一步就commit）——回退不求人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87 / 105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进阶路线图（从今天的课往哪走）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本周：工单核心技能→下周：组合应用→期末：综合项目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横向：本课技能在03课P项目链中的位置（工程化/全栈）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纵向：证书线——初级操作题→中级工程题（1+X/工信部）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竞赛线：校级选拔→世界职业院校技能大赛（人工智能赛道）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岗位线：跟做学徒→独立操作→带组师傅→产线负责人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88 / 105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本周各层达标预期（%）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1896000" y="2600000"/>
            <a:ext cx="1400000" cy="28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9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D层·跟做保底</a:t>
            </a:r>
          </a:p>
        </p:txBody>
      </p:sp>
      <p:sp>
        <p:nvSpPr>
          <p:cNvPr id="8" name="Rectangle 7"/>
          <p:cNvSpPr/>
          <p:nvPr/>
        </p:nvSpPr>
        <p:spPr>
          <a:xfrm>
            <a:off x="3996000" y="3160000"/>
            <a:ext cx="1400000" cy="224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96000" y="26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80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7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C层·基础完成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96000" y="3720000"/>
            <a:ext cx="1400000" cy="1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96000" y="316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60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B层·标准达成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96000" y="4560000"/>
            <a:ext cx="1400000" cy="84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96000" y="400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9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A层·进阶拓展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预期≠上限：动态升降制下人人可冲上一层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89 / 105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课前预习清单（下次课前完成）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微课知识卡：双栏对照法完成语法迁移——应用：见工单starter与教师参考实（5分钟视频+导学单）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Jupyter实训notebook：先跑教师版看答案，再试学生版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预习快问：下次课quiz从微课与导学单出题——带着答案来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Git推送本周工单：还没提交的课后补上（周达标率依据）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90 / 105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知识口袋书（本课概念速记）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 C→Python映射：声明→动态/大括号→缩进/指针→引用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 引用语义：b=a后改b会动a(列表不拷贝)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 列表append动态扩容；字典O(1)查找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用法：睡前30秒过一遍——口袋书越翻越薄，技能越练越厚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91 / 105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输出对比：好的 vs 差的（规范从第一课开始）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好的输出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表头对齐·单位齐全·小数位统一·命名规范（snake_case）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差的输出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数字裸奔无单位·列不对齐·temp1/temp2乱命名·中文引号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差多少分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同样的功能——规范20%+素养15%两项就能差出35分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为什么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车间台账要给人看——读不懂的输出=没交付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92 / 105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全课知识图谱回顾（一图收束）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列表与字典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：C里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4条分支导览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知识回顾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C→Python映射：声明→动态/大括号→缩进/指针→引用 · 引用语义：b=a后改b会动a(列表不拷贝)——应用：import copy; b=copy.deepcopy(a)——浅拷贝改b动a，深拷贝才安全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技能回顾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双栏对照法完成语法迁移——应用：见工单starter与教师参考实现 · 五题渐进练习全通过pytest断言——应用：见工单starter与教师参考实现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易错回顾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b改a也变 · 混用Tab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交付物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工单P1.1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93 / 105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常见场景应对（卡住了怎么办）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场景①代码报错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读报错最后一行→查错误速查表→还没解决举手（附截图）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场景②不知道做啥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回看操作核对清单□——第一个没勾的就是下一步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场景③做完了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90秒最后一查→Git提交→帮同组D/C层（B层职责）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场景④提前全完成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A层拓展任务→费曼准备→预习下次课微课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94 / 105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微课与自学资源（课后补弱/拓强）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微课知识卡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本周主题：双栏对照法完成语法迁移——应用：见工单starter与教师参考实——5分钟视频+导学单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数字人版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同内容数字人讲解——喜欢听的换着看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Jupyter师生版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教师版有完整答案——先看懂再独立做学生版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多解法手册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教师参考/多解法手册——同一任务三种深度解法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95 / 105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答辩预演（期末综合项目的彩排）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①30秒讲需求：这个工单解决什么问题、给谁用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②60秒讲方案：数据从哪来→怎么处理→输出什么（三段式）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③60秒讲亮点：我踩过的坑+怎么爬出来的（错误速查表就是素材）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④答辩礼仪：指着屏幕讲，不念稿；被问住就说'这个我课后验证'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从本周开始练——期末答辩=12周彩排的总和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96 / 105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课堂实录清单（过程性考核证据）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运行截图：代码+输出同框（截全不截半）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工单过程栏：步骤勾选+决策理由+自查记录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Git提交：本次课至少1条commit（message规范）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□ 同伴签字：互查通过后签名（讲得清才算会）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四项齐全=过程分满分；缺一项课后24小时内补齐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97 / 105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多解法一瞥（同一任务的不同打法）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解法A·直白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按工单步骤顺序实现——好懂好调试，D/C层路线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解法B·工程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函数封装+异常处理——可复用，B层路线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解法C·进阶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向量化/推导式/设计模式——性能优雅，A层路线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怎么选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先让它跑起来→再让它对→最后让它快（KISS原则）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98 / 105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自测答案与讲解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课前快问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缩进即语法——你踩过哪些C习惯的坑？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排错题：出现「b改a也变」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原因：引用语义；解决：list(a)或a.copy()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复述题：用自己的话说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C→Python映射：声明→动态/大括号→缩进/指针→引用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错题怎么办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回看对应知识卡+应用页，再跑一遍starter验证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99 / 105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今日一图流总结（贴脑墙上）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知识：C→Python映射：声明→动态/大括号；引用语义：b=a后改b会动a(列表不拷贝；列表append动态扩容；字典O(1)查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3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990000"/>
            <a:ext cx="10200000" cy="7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技能：双栏对照法完成语法迁移——应用：见工单starter与教师参考实现；五题渐进练习全通过pytest断言——应用：见工单starter与教师参考实现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41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9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交付：工单P1.1《Python基础练习五题》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7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6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习惯：做完就Ctrl+K提交Git——每周至少1次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54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53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明日：课前微课+导学单（下次课quiz从中出题）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100 / 105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工具箱①：Git提交四步（每周必做）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0625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181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第1步·暂存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PyCharm按 Ctrl+K → 勾选改动文件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062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062500"/>
            <a:ext cx="2000000" cy="10625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393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第2步·提交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182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Commit Message 按前缀写：feat:完成W1工单核心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2750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275000"/>
            <a:ext cx="2000000" cy="10625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6062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第3步·推送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3950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Ctrl+Shift+K 推送到 GitHub/Gitee——云端可查才算交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487500"/>
            <a:ext cx="10900000" cy="10625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5487500"/>
            <a:ext cx="2000000" cy="10625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581875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第4步·验证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5607500"/>
            <a:ext cx="8500000" cy="8225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网页刷新看到新提交=成功；每周≥1次，工程素养分依据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101 / 105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工具箱②：conda环境三命令（换课先切环境）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128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9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激活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conda activate pp03——提示符变(pp03)才对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28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280000"/>
            <a:ext cx="2000000" cy="12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72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装包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40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激活后再 pip install——装错环境=白装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710000"/>
            <a:ext cx="10900000" cy="12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710000"/>
            <a:ext cx="2000000" cy="128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515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核对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830000"/>
            <a:ext cx="8500000" cy="10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python -c "import sys; print(sys.executable)" 路径含envs才对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102 / 105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工具箱③：PyCharm效率五键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20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6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197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运行当前文件（^R macOS）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82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820000"/>
            <a:ext cx="2000000" cy="8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03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Shift+F9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294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调试——断点停在红点行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9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90000"/>
            <a:ext cx="2000000" cy="8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00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Ctrl+Alt+L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391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格式化代码（⌘⌥L）——交作业前必按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6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60000"/>
            <a:ext cx="2000000" cy="8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0000" y="497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900000" y="488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注释/取消注释——调试好帮手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0000" y="5730000"/>
            <a:ext cx="10900000" cy="82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0000" y="5730000"/>
            <a:ext cx="2000000" cy="8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0000" y="5940000"/>
            <a:ext cx="2000000" cy="4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50" b="1">
                <a:solidFill>
                  <a:srgbClr val="FFFFFF"/>
                </a:solidFill>
                <a:latin typeface="微软雅黑"/>
              </a:rPr>
              <a:t>Ctrl+`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00000" y="5850000"/>
            <a:ext cx="8500000" cy="58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250" b="0">
                <a:solidFill>
                  <a:srgbClr val="010328"/>
                </a:solidFill>
                <a:latin typeface="微软雅黑"/>
              </a:rPr>
              <a:t>开关注册终端——跑服务/装包都在这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103 / 105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Python程序设计（项目实战）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104 / 105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下次课预告（第2周）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生成标准工程模板并推Git——应用：见工单sta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requirements.txt的作用？venv为什么必须.gitignore？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