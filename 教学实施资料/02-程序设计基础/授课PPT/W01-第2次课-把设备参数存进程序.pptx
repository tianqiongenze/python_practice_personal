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Relationship Id="rId93" Type="http://schemas.openxmlformats.org/officeDocument/2006/relationships/slide" Target="slides/slide86.xml"/><Relationship Id="rId94" Type="http://schemas.openxmlformats.org/officeDocument/2006/relationships/slide" Target="slides/slide87.xml"/><Relationship Id="rId95" Type="http://schemas.openxmlformats.org/officeDocument/2006/relationships/slide" Target="slides/slide88.xml"/><Relationship Id="rId96" Type="http://schemas.openxmlformats.org/officeDocument/2006/relationships/slide" Target="slides/slide89.xml"/><Relationship Id="rId97" Type="http://schemas.openxmlformats.org/officeDocument/2006/relationships/slide" Target="slides/slide90.xml"/><Relationship Id="rId98" Type="http://schemas.openxmlformats.org/officeDocument/2006/relationships/slide" Target="slides/slide91.xml"/><Relationship Id="rId99" Type="http://schemas.openxmlformats.org/officeDocument/2006/relationships/slide" Target="slides/slide92.xml"/><Relationship Id="rId100" Type="http://schemas.openxmlformats.org/officeDocument/2006/relationships/slide" Target="slides/slide9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2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3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4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5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6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7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8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9.xml"/></Relationships>
</file>

<file path=ppt/notesSlides/_rels/notesSlide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0.xml"/></Relationships>
</file>

<file path=ppt/notesSlides/_rels/notesSlide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1.xml"/></Relationships>
</file>

<file path=ppt/notesSlides/_rels/notesSlide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2.xml"/></Relationships>
</file>

<file path=ppt/notesSlides/_rels/notesSlide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开场30秒：本次课《把设备参数存进程序》，80分钟＝2课时×40分钟。课前已发工单+starter+微课知识卡，资讯·计划线上完成。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议程页30秒：指读六个部分的分钟归属，强调'资讯计划课前已完成'；告诉学生'每次课都知道现在在哪一步、还剩多少时间'。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过渡页：一句话点明本部分——先明确这门课'为什么学、学了去哪'。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念'课程性质'一行即可，重点指读'对接证书'与'课程衔接'，让学生知道本课与前后课程的关系（30秒）。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知识地图：先见森林后见树木。指着四条分支预告本课路线，不展开细讲（40秒）。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分支详解一：基础两条线各点一个产线例子，说明'为什么先学这个'。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分支详解二：强调'技能=今天的验收口径'，评价权重即打分表。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课证赛岗对照：说明本课工单在证书/竞赛中的对应考点，30秒。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部分小结：三句话收束定位部分，转流程。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流程预告：强调'资讯·计划已在课前完成'，课堂从决策直接开始。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讲10→演10→模仿10→练习10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分层节奏：D层跟做保底、C层基础完成、B层标准达成、A层进阶拓展；每人按工单勾选自己的层，每4周动态升降。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产业数据卡：让学生看到'学的技能=产线的数字'，建立真实感。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部分小结：时间盒+分层节奏收束，转目标。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PRIMM的Predict：先让学生猜，再揭晓。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目标解读：点读1-2个关键动词（能编写/能诊断/能部署），说明这就是今天工单的验收口径。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课前测讲评：随机点2名学生说答案，只追问'为什么'，不展开讲；错得多的题记到'检查'环节再回收。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逐题精讲：只讲错得最多的题——其余对答案即可。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快问快答：同桌互问30秒，举手表决；答案不公布，留到知识精讲验证。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情境说书（30秒，口头讲，不必逐字念）：入职第一天，王主任把小郑领到中控室：'十台注塑机的铭牌参数还在Excel里躺了三年。'你的第一份工作不是写大程序——工单0.1：用Python把设备参数存进程序、打出一张像样的数字台账。</a:t>
            </a:r>
          </a:p>
          <a:p>
            <a:r>
              <a:t>讲完抛出问题：'如果是你，第一步先干什么？'——自然过渡到决策环节。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剧情拆解：把情境页的故事拆成三要素，让学生明确'解决什么'。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目标对照页：逐维读目标，指读达标口径=评分表，目标可测可评。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随堂自测：先答后揭晓，答对记过程分——为目标达成做第一次探测。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部分小结：目标+剧情+自测收束，转知识精讲。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知识精讲开始：每条知识对应一张大卡，讲法'先例后理'。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知识卡1：变量=给值贴标签；动态类型随值走——应用：dev_code='PUMP-03'; temp=78.5; print(type(temp))→&lt;class 'float'&gt;，同一变量可随时换类型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应用页1：把知识点放回产线场景——先看代码输出，再回看定义，强化'学以致用'。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知识卡2：四种基本类型：int/float/str/bool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知识卡3：type()查看类型；int('36')显式转换——应用：isinstance(temp,float)做类型守卫防传入字符串温度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应用页3：把知识点放回产线场景——先看代码输出，再回看定义，强化'学以致用'。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知识卡4：f-string格式化：f"温度{t:.1f}℃"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知识卡5：单位换算公式：F=C*9/5+32；MPa=kPa/1000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知识卡6：PEP 8启蒙：snake_case命名+4空格缩进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快查核对：遮住左栏让学生说右栏含义；全对的小组加过程分。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深化讲解：面向A/B层的进阶理解，C/D层听懂结论即可。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深化展开：每条要点配一个'为什么'，A层准备2分钟费曼讲解。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技能点＝今天'做完你应该会'，逐条对应工单步骤与评分点。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技能展开：逐条读技能，指读工单对应步骤——把'学'和'考'对齐。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实施内容清单：本页条目与工单步骤一一对应，逐项过一遍即可，细节留到代码演示。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现场演示《台账卡输出》：三步走——先整段跑通看结果，再逐行讲关键语句，最后现场改一个参数看输出变化（演10分钟的核心素材）。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代码走读：一页拆一段——学生跟着读，不是抄。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流程图页：可快速带过，作为'我们现在在哪一步'的路标。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强调柱状图最右两根：实施二25分钟是冲优秀的时间，评价10分钟不压缩——当堂评分、24小时内反馈。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进入实施：先决策、再领工单、按层执行。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决策矩阵用法（10分钟）：组内对备选方案打分→选型→把结论和理由写进工单'决策记录'栏；教师抽查2组口头说理由（决策追责）。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工单发布话术：'精密制造事业部发来工单0.1《设备参数初始化系统》，及格线是≥，优秀线看A层标准'——念完发starter。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D层·学徒：跟做保底。教师或屏幕领做，做完即达标，绝不留白。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D层步骤详解：逐条读步骤——D层照着做，A层做完讲给别人。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C层·操作员：基础完成。按工单步骤独立完成，卡壳先查错误速查表。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C层步骤详解：逐条读步骤——D层照着做，A层做完讲给别人。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B层·组长：标准达成。全部功能+规范，完成后帮带同组D/C层。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B层步骤详解：逐条读步骤——D层照着做，A层做完讲给别人。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A层·师傅：进阶拓展。完成拓展任务并准备2分钟展示；费曼式讲给D层听。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A层步骤详解：逐条读步骤——D层照着做，A层做完讲给别人。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避坑清单：每条问'为什么会踩'，点名学生解释，把'注意'变成'知道为什么注意'。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错误速查：现场演示第一条——制造「SyntaxError」，带着学生按'现象→原因→解决'三步排查。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先让学生说排查顺序再给提示：训练'看报错信息'的条件反射。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四层总览：一页看全四层目标与达标线——学生选层前先看全局。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核对清单：把工单步骤变成checklist，做完勾选——防漏做。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最后一查：五项90秒自查——退回率最低的五个点。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部分小结：实施收束，转检查评价。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收尾5分钟检查+10分钟评价。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三层质检组织：自查明细→同伴互查（签字）→教师抽查2组；查出的缺陷当场修，修不完记入课后任务。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提交强调：文件命名'学号_姓名_工单号.zip'，24小时内教师在平台反馈评分。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教材衔接：教材：Python程序设计项目化教程（活页式）（任越美 李垒 李江岱 主编，978-7-313-30507-7）— 项目1 初来乍到，请多关照 | 预习知识点：Python开发环境安装(IDE/解释器)；print与input；变量与基本数据类型 | 课中检查知识点：能独立打开IDE并运行print('hello')；能说出int/float/str的区别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素养页：结合本课内容点一个真实案例（如数据脱敏、代码抄袭后果），30秒即可。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提醒：运行截图/实拍照片贴到工单过程记录栏，作为过程性考核证据。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评分细则：四级量表逐行读——学生知道自己'到哪条线得多少分'。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FAQ三题：覆盖装包/启动/规范三大高频问题——贴在工单背面。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资源导航：五级求助顺序=工单→starter→指南→notebook→教师。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部分小结：评价收束。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拓展部分：A层必看，B层选看，C/D层课后看——差异化作业。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产业案例：讲一个真实岗位场景，把课堂技能挂到职业坐标系。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思政页：结合本课内容点一个真实案例，30秒即可，不贴标签。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学习策略：四个方法贯穿全学期——第一周讲透，以后每周复用。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进阶路线：把一门课放进三年坐标系——学完这周能走到哪。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达标预期：四层的预期比例——D层100%保底是底线承诺。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预习清单：三项任务5-15分钟——闭环从课前开始。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口袋书：三条概念卡——期末汇总成全册，学生自查工具。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好差对比：两份同功能输出对比——规范分不是白给的。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多解法页：同一工单三种深度——层不同，解法不同，都算对。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自测答案：逐题讲'为什么'——错题定位到知识卡编号。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一图流总结：五句话收束全天——知识/技能/交付/习惯/明日。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Git工具箱：投屏演示一遍四步——学生跟着做一次就记住了。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conda工具箱：三个命令一页——换课/换机先跑这三条。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PyCharm工具箱：五个键每天用——现场带练一遍。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下课提醒：关机→椅归位→带走工单；教师课后24h内完成反馈。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下次课预告：布置课前微课知识卡与导学单，形成学习闭环。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0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2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3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4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5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6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8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9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0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1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2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3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4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5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6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8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9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0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1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2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3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4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5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6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8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9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0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1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2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3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4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5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6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78308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783080"/>
            <a:ext cx="12192000" cy="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250000"/>
            <a:ext cx="10792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0">
                <a:solidFill>
                  <a:srgbClr val="FFFFFF"/>
                </a:solidFill>
                <a:latin typeface="微软雅黑"/>
              </a:rPr>
              <a:t>Python编程基础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BBC6E6"/>
                </a:solidFill>
                <a:latin typeface="微软雅黑"/>
              </a:rPr>
              <a:t>◆ 重庆两江智造集团 · 精密制造事业部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0000" y="2263140"/>
            <a:ext cx="5992000" cy="2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400" b="1">
                <a:solidFill>
                  <a:srgbClr val="010328"/>
                </a:solidFill>
                <a:latin typeface="微软雅黑"/>
              </a:rPr>
              <a:t>把设备参数存进程序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" y="3771900"/>
            <a:ext cx="59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0545E8"/>
                </a:solidFill>
                <a:latin typeface="微软雅黑"/>
              </a:rPr>
              <a:t>第一周 · 第2次课（2课时 · 80分钟）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双创中心302实训室  ·  理实一体  ·  配套：分层工单+starter  ·  本课主用：PyCharm CE（全程主编辑器）+ Jupyter（每周notebook）+ Git/GitHub（每周提交）</a:t>
            </a:r>
          </a:p>
        </p:txBody>
      </p:sp>
      <p:pic>
        <p:nvPicPr>
          <p:cNvPr id="7" name="Picture 6" descr="W1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000" y="2300000"/>
            <a:ext cx="4100000" cy="3075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00000" y="5623560"/>
            <a:ext cx="1500000" cy="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0000" y="5760720"/>
            <a:ext cx="10792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重庆现代制造职业学院  智能控制学院 · 工业互联网应用专业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本次课议程（六部分 · 80分钟）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80000" y="200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课程定位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课前已读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8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性质·岗位·证书：为什么学这门课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7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7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7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90000" y="200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课堂流程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约2′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9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四步法节奏：讲-演-模仿-练习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8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目标与资讯·情境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约5′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8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目标+两江智造本课剧情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7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7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7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9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知识精讲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讲10′+演10′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9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基础知识大卡+现场演示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8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模仿与练习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10′+10′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8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跟做保底→独立完成（工单分层）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7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7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7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9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检查与评价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9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三层质检·当堂评分·课后任务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0000" y="6350000"/>
            <a:ext cx="109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资讯·计划已于课前线上完成——课堂从决策/演示直接开始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02 / 93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01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课程定位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本课在课程体系中的位置（课程标准摘录）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03 / 93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课程定位：Python编程基础（课程标准摘录）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6260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6000" y="1880000"/>
            <a:ext cx="2652500" cy="56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6000" y="2030000"/>
            <a:ext cx="265250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课程性质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60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专业核心基础课：面向零基础新生的编程第一课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85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88500" y="1880000"/>
            <a:ext cx="2652500" cy="56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8500" y="2030000"/>
            <a:ext cx="265250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面向岗位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185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工业数据采集技术员、边缘计算运维、平台运维员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510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51000" y="1880000"/>
            <a:ext cx="2652500" cy="56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51000" y="2030000"/>
            <a:ext cx="265250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对接证书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810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Python开发（工信部）、AI应用实践、企业应用实施工程师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135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913500" y="1880000"/>
            <a:ext cx="2652500" cy="5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13500" y="2030000"/>
            <a:ext cx="265250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课程衔接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435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前：计算机文化基础 → 本课(第1-12周) → 后：AI应用基础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04 / 93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本课知识图谱（先见森林，再见树木）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把设备参数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存进程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5条分支导览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基础知识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变量=给值贴标签；动态类型随值走——应用：dev_code='PUMP-03'; temp=78.5; print(type(temp))→&lt;class 'float'&gt;，同一变量可随时换类型 · 四种基本类型：int/float/str/bool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继续夯实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type()查看类型；int('36')显式转换——应用：isinstance(temp,float)做类型守卫防传入字符串温度 · f-string格式化：f"温度{t:.1f}℃"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技能点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安装Python与PyCharm CE并运行首程序——应用：见工单starter与教师参考实现 · 定义多类型变量并格式化输出台账卡——应用：见工单starter与教师参考实现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分层任务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D跟做保底 · C基础完成 · B标准达成 · A进阶拓展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400000" y="3350000"/>
            <a:ext cx="1050000" cy="237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3500000" y="533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500000" y="533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60000" y="555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课堂评价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40000" y="542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功能40% · 技术25% · 规范20% · 素养15%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05 / 93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知识地图分支详解（一）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基础知识线：变量=给值贴标签；动态类型随值走——应用：dev_code='PUMP-03'; temp=78.5; print(type(temp))→&lt;class 'float'&gt;，同一变量可随时换类型；四种基本类型：int/float/str/bool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3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继续夯实线：type()查看类型；int('36')显式转换——应用：isinstance(temp,float)做类型守卫防传入字符串温度；f-string格式化：f"温度{t:.1f}℃"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4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两条线的关系：先打地基（概念/类型），再上楼层（组合应用）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学法提示：每条知识都配'车间例子'，先例后理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06 / 93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知识地图分支详解（二）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技能线：安装Python与PyCharm CE并运行首程序——应用：见工单starter与教师参考实现；定义多类型变量并格式化输出台账卡——应用：见工单starter与教师参考实现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3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分层任务线：D跟做→C独立→B帮带→A拓展（每4周动态升降）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课堂评价线：功能40%+技术25%+规范20%+素养15%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三条线闭环：技能靠任务练，任务按评价收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07 / 93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岗课赛证对照（本课坐标）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精密制造事业部：工业数据采集技术员、边缘计算运维员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0.1《设备参数初始化系统》——本课工单即考核单元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Python开发职业技能等级证书（工信部）——本课对应初级操作题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赛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世界职业院校技能大赛（人工智能赛道）数据采集/处理赛项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08 / 93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课程定位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本课在课程体系：专业核心基础课：面向零基础新生的编程第一课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知识地图五分支：基础→夯实→技能→分层→评价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4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3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岗课赛证四维坐标已明确，带着目标进课堂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09 / 93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02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课堂流程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80分钟时间盒与个人节奏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 / 93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本次课流程（80分钟时间盒）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0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190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0000" y="200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复习检查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00000" y="200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5min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00000" y="200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课前5分钟：代码听写/找错微练习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0000" y="269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0000" y="269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000" y="279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00000" y="279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18min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00000" y="279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精讲原理与工业应用背景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0000" y="348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0000" y="348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0000" y="358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00000" y="358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18min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00000" y="358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教师实时代码演示（关键步骤慢放）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0000" y="427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000" y="427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0000" y="437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模仿·练习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00000" y="437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31min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00000" y="437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跟做→独立完成小任务（人人有产出）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0000" y="506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0000" y="506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0000" y="516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评价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00000" y="516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8min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00000" y="516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当堂评分 + 避坑清单更新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0000" y="6058000"/>
            <a:ext cx="10000000" cy="2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每课时40分钟 · 共80分钟（四步法）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11 / 93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80分钟课堂节奏（学生自查）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03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0-10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00000" y="203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资讯回顾+决策矩阵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0000" y="203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跟上讨论, 记下结论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0000" y="2770000"/>
            <a:ext cx="10900000" cy="82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0000" y="277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000" y="295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10-40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00000" y="295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第一轮实施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0000" y="295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完成本层核心任务主体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69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69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000" y="387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40-45 min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00000" y="387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三层检查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0000" y="387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自检表勾完+互检1条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60000" y="4610000"/>
            <a:ext cx="10900000" cy="82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60000" y="461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0000" y="479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45-70 min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00000" y="479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第二轮实施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0000" y="479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优化/冲标准/补漏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000" y="553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0000" y="553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0000" y="571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70-80 min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00000" y="571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评价+课后布置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0000" y="571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自评打分, 记录课后任务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12 / 93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两江智造产线运营指标（虚拟产线月度数据）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2946000" y="4175000"/>
            <a:ext cx="1400000" cy="1225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6000" y="3615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42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设备接入数（台/月）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5046000" y="2600000"/>
            <a:ext cx="1400000" cy="28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46000" y="20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96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告警响应达标率(%)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46000" y="2833334"/>
            <a:ext cx="1400000" cy="2566666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6000" y="2273334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88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台账电子化率(%)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400000" y="5400000"/>
            <a:ext cx="9400000" cy="3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61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数据来自虚拟产线五件套——你写的代码就在处理这些数据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13 / 93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课堂流程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四步法：讲10→演10→模仿10→练习10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分层节奏：D/C/B/A各就各位，每4周动态升降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4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3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评价环节10分钟不压缩——当堂评分、24小时反馈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14 / 93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03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目标与资讯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带着目标进课堂（Predict·预测）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15 / 93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学习目标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0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知识目标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掌握Python开发环境搭建方法；掌握变量、基本数据类型与运算符的使用；理解动态类型语言的特点。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425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5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5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能力目标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能够独立搭建Python开发环境并运行程序；能够编写50-100行的设备参数初始化程序；代码规范率≥70%。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0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80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0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素质目标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8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建立对编程工具的信心与兴趣，养成规范命名、及时保存的编码习惯，树立“代码即工程文件”的意识。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16 / 93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知识目标：怎么学·怎么证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目标：掌握Python开发环境搭建方法；掌握变量、基本数据类型与运算符的使用；理解动态类型语言的特点。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怎么学：知识卡先例后理→快查核对→应用页回到产线场景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怎么证：课前quiz+随堂自测+工单'技术质量25%'项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达标线：能复述定义+能说出产线例子=过关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17 / 93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能力目标：怎么练·怎么证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目标：能够独立搭建Python开发环境并运行程序；能够编写50-100行的设备参数初始化程序；代码规范率≥70%。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怎么练：starter跟做（D）→独立完成（C）→规范+帮带（B）→拓展（A）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怎么证：工单'功能40%'全项+运行截图贴过程记录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达标线：代码能跑+输出符合工单样例=过关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18 / 93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素质目标：怎么养·怎么证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目标：建立对编程工具的信心与兴趣，养成规范命名、及时保存的编码习惯，树立“代码即工程文件”的意识。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怎么养：规范命名/及时提交/报错必究——每个工单都在练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怎么证：Git提交历史（每周≥1次）+工单'素养15%'项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达标线：提交记录连续+命名规范=过关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19 / 93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课前资讯回顾（六步之“资讯·计划”）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100000"/>
            <a:ext cx="10600000" cy="17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2100000"/>
            <a:ext cx="120000" cy="1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0000" y="2280000"/>
            <a:ext cx="100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预习快问：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010328"/>
                </a:solidFill>
                <a:latin typeface="微软雅黑"/>
              </a:rPr>
              <a:t>Python变量为什么不需要先声明类型？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100000"/>
            <a:ext cx="106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课前检查：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预习微课已观看；跟打练习截图已交；PyCharm CE环境正常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20 / 93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课前测逐题精讲（错得最多的那道）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题目：Python变量为什么不需要先声明类型？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正确思路：从'考哪个知识卡'入手——先定位再作答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常见错误：背概念不看场景；看到代码就慌，先读注释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本课回收：这道题的考点会在知识卡X和随堂自测中再次出现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21 / 93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1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Python变量为什么不需要先声明类型？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浮点比较用容差 abs(a-b)&lt;1e-6，不用==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22 / 93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任务情境（集团项目案例）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780000"/>
            <a:ext cx="106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80000"/>
            <a:ext cx="102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◆ 重庆两江智造集团 · 精密制造事业部</a:t>
            </a:r>
          </a:p>
        </p:txBody>
      </p:sp>
      <p:sp>
        <p:nvSpPr>
          <p:cNvPr id="7" name="Rectangle 6"/>
          <p:cNvSpPr/>
          <p:nvPr/>
        </p:nvSpPr>
        <p:spPr>
          <a:xfrm>
            <a:off x="800000" y="2580000"/>
            <a:ext cx="6300000" cy="3600000"/>
          </a:xfrm>
          <a:prstGeom prst="rect">
            <a:avLst/>
          </a:prstGeom>
          <a:solidFill>
            <a:srgbClr val="F7F9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2740000"/>
            <a:ext cx="5900000" cy="3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50" b="0">
                <a:solidFill>
                  <a:srgbClr val="010328"/>
                </a:solidFill>
                <a:latin typeface="微软雅黑"/>
              </a:rPr>
              <a:t>入职第一天，王主任把小郑领到中控室：'十台注塑机的铭牌参数还在Excel里躺了三年。'你的第一份工作不是写大程序——工单0.1：用Python把设备参数存进程序、打出一张像样的数字台账。</a:t>
            </a:r>
          </a:p>
        </p:txBody>
      </p:sp>
      <p:pic>
        <p:nvPicPr>
          <p:cNvPr id="9" name="Picture 8" descr="W1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0000" y="2580000"/>
            <a:ext cx="4150000" cy="3600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23 / 93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剧情拆解：任务 → 冲突 → 你的决策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任务背景：入职第一天，王主任把小郑领到中控室：'十台注塑机的铭牌参数还在Excel里躺了三年。'你的第一份工作不是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冲突点：产线数据量大/格式杂/时限紧——手工做不完，必须编程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决策点：先做什么再做什么？数据从哪来？输出给谁看？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带着这三个问题进入知识精讲——每个知识点都是解药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24 / 93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三维目标 → 怎么算达标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知识目标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掌握Python开发环境搭建方法；掌握变量、基本数据类型与运算符的使用；理解动态类型语言的特点。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能力目标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能够独立搭建Python开发环境并运行程序；能够编写50-100行的设备参数初始化程序；代码规范率≥70%。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素质目标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建立对编程工具的信心与兴趣，养成规范命名、及时保存的编码习惯，树立“代码即工程文件”的意识。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达标口径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对应工单0.1评分：功能40%+技术25%+规范20%+素养15%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25 / 93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3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课前快问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Python变量为什么不需要先声明类型？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26 / 93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4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排错题：出现「SyntaxError」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原因：中文标点/冒号；解决：全用英文标点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27 / 93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5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复述题：用自己的话说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变量=给值贴标签；动态类型随值走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28 / 93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目标与资讯·情境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三维目标已明确，达标口径=工单评分表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剧情任务：入职第一天，王主任把小郑领到中控室：'十台注塑机的铭牌参数还在E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64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54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随堂自测完成第一次探测，带着问题进精讲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29 / 93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04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知识精讲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基础知识 → 详解 → 技能 → 代码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30 / 93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B01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变量=给值贴标签；动态类型随值走——应用：dev_code='PUMP-03'; temp=78.5; print(type(temp))→&lt;class 'float'&gt;，同一变量可随时换类型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31 / 93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知识应用（1）：变量=给值贴标签；动态类型随值走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1750000"/>
            <a:ext cx="10900000" cy="9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1900000"/>
            <a:ext cx="10300000" cy="6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◆ 两江智造应用场景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80000"/>
            <a:ext cx="10900000" cy="17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2920000"/>
            <a:ext cx="103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变量=给值贴标签；动态类型随值走。在两江智造产线上的用法：dev_code='PUMP-03'; temp=78.5; print(type(temp))→&lt;class 'float'&gt;，同一变量可随时换类型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680000"/>
            <a:ext cx="10900000" cy="165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680000"/>
            <a:ext cx="10900000" cy="1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860000"/>
            <a:ext cx="10300000" cy="1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dev_code='PUMP-03'; temp=78.5; print(type(temp))→&lt;class 'float'&gt;，同一变量可随时换类型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32 / 93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B02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四种基本类型：int/float/str/bool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33 / 93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B03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type()查看类型；int('36')显式转换——应用：isinstance(temp,float)做类型守卫防传入字符串温度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34 / 93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知识应用（3）：type()查看类型；int('36')显式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1750000"/>
            <a:ext cx="10900000" cy="9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1900000"/>
            <a:ext cx="10300000" cy="6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◆ 两江智造应用场景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80000"/>
            <a:ext cx="10900000" cy="17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2920000"/>
            <a:ext cx="103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type()查看类型；int('36')显式转换。在两江智造产线上的用法：isinstance(temp,float)做类型守卫防传入字符串温度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680000"/>
            <a:ext cx="10900000" cy="165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680000"/>
            <a:ext cx="10900000" cy="1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860000"/>
            <a:ext cx="10300000" cy="1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isinstance(temp,float)做类型守卫防传入字符串温度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35 / 93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B04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f-string格式化：f"温度{t:.1f}℃"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36 / 93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B05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单位换算公式：F=C*9/5+32；MPa=kPa/1000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37 / 93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B06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PEP 8启蒙：snake_case命名+4空格缩进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38 / 93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知识快闪：60秒复述以下要点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000" y="180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1.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变量=给值贴标签；动态类型随值走——应用：dev_code='PUMP-03'; temp=78.5; print(type(temp))→&lt;class 'float'&gt;，同一变量可随时换类型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0000" y="256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2.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四种基本类型：int/float/str/bool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000" y="332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3.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type()查看类型；int('36')显式转换——应用：isinstance(temp,float)做类型守卫防传入字符串温度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08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4.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f-string格式化：f"温度{t:.1f}℃"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000" y="484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5.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单位换算公式：F=C*9/5+32；MPa=kPa/1000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000" y="572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475B6"/>
                </a:solidFill>
                <a:latin typeface="微软雅黑"/>
              </a:rPr>
              <a:t>同桌互述 → 抽2人全班复述（费曼：能讲清才算懂）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39 / 93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知识详解（讲）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21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30000" cy="21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0000" y="2020000"/>
            <a:ext cx="2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知识点1  换算公式的代码化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0000" y="2620000"/>
            <a:ext cx="10200000" cy="1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℃→℉：F=C*9/5+32；kPa→MPa：除以1000。公式先写注释再翻译成一行return，可读性优先。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4200000"/>
            <a:ext cx="10900000" cy="21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4200000"/>
            <a:ext cx="130000" cy="21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0000" y="4320000"/>
            <a:ext cx="2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知识点2  多变量打印对齐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0000" y="4920000"/>
            <a:ext cx="10200000" cy="1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f"{name:&lt;10}{status:&gt;6}"左对齐10格/右对齐6格，模拟台账表格效果。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40 / 93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深化理解：逐条讲透（A层费曼素材）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要点1：('换算公式的代码化', '℃→℉：F=C*9/5+32；kPa→MPa：除以1000。公式先写注释再翻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要点2：('多变量打印对齐', 'f"{name:&lt;10}{status:&gt;6}"左对齐10格/右对齐6格，模拟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学法：A层用自己的话讲给D层听——讲得清才是真懂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41 / 93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技能点：做完你应该会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0000" y="200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205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50000" y="206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安装Python与PyCharm CE并运行首程序——应用：见工单starter与教师参考实现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93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0000" y="313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0000" y="318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50000" y="319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定义多类型变量并格式化输出台账卡——应用：见工单starter与教师参考实现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06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0000" y="426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0000" y="431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50000" y="432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完成单位换算并保留小数——应用：见工单starter与教师参考实现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19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0000" y="539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0000" y="544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50000" y="545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按规范命名并添加关键注释——应用：见工单starter与教师参考实现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42 / 93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技能点 → 工单步骤 → 得分点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技能1：安装Python与PyCharm CE并运行首程序——应用：见工单starter与教师参 → 对应工单步骤1，占功能分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技能2：定义多类型变量并格式化输出台账卡——应用：见工单starter与教师参考实现 → 对应工单步骤2，占功能分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技能3：完成单位换算并保留小数——应用：见工单starter与教师参考实现 → 对应工单步骤3，占功能分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9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87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技能4：按规范命名并添加关键注释——应用：见工单starter与教师参考实现 → 对应工单步骤4，占功能分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59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58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提示：技能点全部来自工单评分点——练技能=挣分数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43 / 93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把设备参数存进程序（1）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输入与输出：input()、print()、f-string格式化；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数据类型转换与单位换算（摄氏度→华氏度、kPa→MPa）；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工单项目0.1实操：定义≥6个变量、涵盖≥3种数据类型，完成设备参数初始化系统；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代码规范启蒙：变量命名规则与PEP 8基础（目标规范率70%）。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44 / 93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关键代码：台账卡输出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46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090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2000000"/>
            <a:ext cx="103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device_id = "DEV-2026-001"; name = "智能注塑机"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temp = 56.5; press_kpa = 450.0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print(f"编号:{device_id}\n名称:{name}")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print(f"温度:{temp:.1f}℃ ({temp*9/5+32:.1f}℉)")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print(f"压力:{press_kpa/1000:.2f}MPa")</a:t>
            </a:r>
          </a:p>
        </p:txBody>
      </p:sp>
      <p:sp>
        <p:nvSpPr>
          <p:cNvPr id="8" name="Rectangle 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45 / 93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代码走读：《台账卡输出》逐段拆解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行1：device_id = "DEV-2026-001"; name = "智能注塑机"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行2：temp = 56.5; press_kpa = 450.0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行3：print(f"编号:{device_id}\n名称:{name}")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1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行4：print(f"温度:{temp:.1f}℃ ({temp*9/5+32:.1f}℉)")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56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55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行5：print(f"压力:{press_kpa/1000:.2f}MPa")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0000" y="66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0000" y="64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读法：先看每行的输出→再问'为什么这么写'→最后改参数看变化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46 / 93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课堂教法四步法（每课时40分钟）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96000" y="2600000"/>
            <a:ext cx="250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6000" y="2720000"/>
            <a:ext cx="23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讲10min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3496000" y="2600000"/>
            <a:ext cx="250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56000" y="2720000"/>
            <a:ext cx="23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演10min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96000" y="2600000"/>
            <a:ext cx="250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56000" y="2720000"/>
            <a:ext cx="23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模仿10min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896000" y="2600000"/>
            <a:ext cx="2500000" cy="15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56000" y="2720000"/>
            <a:ext cx="23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练习10min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0000" y="46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PRIMM融合：预测→运行→研究→修改→创造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47 / 93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80分钟时间盒分配（分钟）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46000" y="4466667"/>
            <a:ext cx="1400000" cy="933333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6000" y="3906667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决策</a:t>
            </a:r>
          </a:p>
        </p:txBody>
      </p:sp>
      <p:sp>
        <p:nvSpPr>
          <p:cNvPr id="8" name="Rectangle 7"/>
          <p:cNvSpPr/>
          <p:nvPr/>
        </p:nvSpPr>
        <p:spPr>
          <a:xfrm>
            <a:off x="2946000" y="2600000"/>
            <a:ext cx="1400000" cy="28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6000" y="20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实施一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46000" y="4933334"/>
            <a:ext cx="1400000" cy="466666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000" y="4373334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检查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46000" y="3066667"/>
            <a:ext cx="1400000" cy="2333333"/>
          </a:xfrm>
          <a:prstGeom prst="rect">
            <a:avLst/>
          </a:prstGeom>
          <a:solidFill>
            <a:srgbClr val="0175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6000" y="2506667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25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实施二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246000" y="4466667"/>
            <a:ext cx="1400000" cy="933333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46000" y="3906667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评价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400000" y="5400000"/>
            <a:ext cx="9400000" cy="3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0000" y="61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评价环节不压缩：10分钟当堂评分+24小时反馈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48 / 93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05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任务实施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工单 · 分层 · 步骤 · 避坑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49 / 93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课堂教法：四步法（第1-6周）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000000"/>
            <a:ext cx="3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00" y="2120000"/>
            <a:ext cx="3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步骤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时长/课时</a:t>
            </a:r>
          </a:p>
        </p:txBody>
      </p:sp>
      <p:sp>
        <p:nvSpPr>
          <p:cNvPr id="9" name="Rectangle 8"/>
          <p:cNvSpPr/>
          <p:nvPr/>
        </p:nvSpPr>
        <p:spPr>
          <a:xfrm>
            <a:off x="66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要点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0000" y="270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000" y="280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讲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原理+工业背景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0000" y="332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000" y="342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演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实时代码演示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0000" y="394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0000" y="404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模仿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跟做保底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0000" y="456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0000" y="466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练习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00000" y="456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00000" y="466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600000" y="456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00000" y="466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独立+小步成功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00" y="530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第7周起切换为完整六步法（资讯·计划课前线上）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50 / 93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实施任务：工单0.1《设备参数初始化系统》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6300000" cy="3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100000"/>
            <a:ext cx="5900000" cy="3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实施步骤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1. input()录入设备参数并校验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2. print格式对齐输出台账卡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3. 交换两个变量的3种写法试验</a:t>
            </a:r>
          </a:p>
        </p:txBody>
      </p:sp>
      <p:sp>
        <p:nvSpPr>
          <p:cNvPr id="7" name="Rectangle 6"/>
          <p:cNvSpPr/>
          <p:nvPr/>
        </p:nvSpPr>
        <p:spPr>
          <a:xfrm>
            <a:off x="7400000" y="1950000"/>
            <a:ext cx="4000000" cy="185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50000" y="2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及格标准（D）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≥6变量、≥3类型、规范率≥70%</a:t>
            </a:r>
          </a:p>
        </p:txBody>
      </p:sp>
      <p:sp>
        <p:nvSpPr>
          <p:cNvPr id="9" name="Rectangle 8"/>
          <p:cNvSpPr/>
          <p:nvPr/>
        </p:nvSpPr>
        <p:spPr>
          <a:xfrm>
            <a:off x="7400000" y="3950000"/>
            <a:ext cx="4000000" cy="185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50000" y="4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优秀标准（B+）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含输入校验；格式对齐美观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51 / 93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D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学徒 · 跟做保底层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首程序仪式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运行w01示例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改一个变量值再跑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截图打卡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445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Hello World跑通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52 / 93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D层·学徒：步骤怎么走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第1步：运行w01示例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第2步：改一个变量值再跑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第3步：截图打卡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达标自检：Hello World跑通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53 / 93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C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操作员 · 基础完成层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基础台账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定义6个变量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print逐项输出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完成1处换算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6变量3类型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54 / 93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C层·操作员：步骤怎么走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第1步：定义6个变量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第2步：print逐项输出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第3步：完成1处换算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达标自检：6变量3类型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55 / 93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B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组长 · 标准达成层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完整台账卡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定义8个变量覆盖4类型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f-string对齐输出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完成℃→℉与kPa→MPa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FDF0E6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8变量+2处换算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56 / 93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B层·组长：步骤怎么走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第1步：定义8个变量覆盖4类型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第2步：f-string对齐输出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第3步：完成℃→℉与kPa→MPa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达标自检：8变量+2处换算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57 / 93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A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师傅 · 进阶拓展层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输入校验+多行台账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input录入并校验范围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循环输出多设备台账卡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加单位换算双项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98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8变量4类型+校验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0">
                <a:solidFill>
                  <a:srgbClr val="44546A"/>
                </a:solidFill>
                <a:latin typeface="微软雅黑"/>
              </a:rPr>
              <a:t>(A层加码: 把6个变量组织成字典并循环打印“设备铭牌”卡片（为W4铺路）)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58 / 93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A层·师傅：步骤怎么走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第1步：input录入并校验范围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第2步：循环输出多设备台账卡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第3步：加单位换算双项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达标自检：8变量4类型+校验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59 / 93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实施步骤与注意事项（做）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1850000"/>
            <a:ext cx="6300000" cy="41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0000" y="1980000"/>
            <a:ext cx="5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545E8"/>
                </a:solidFill>
                <a:latin typeface="微软雅黑"/>
              </a:rPr>
              <a:t>实施步骤</a:t>
            </a:r>
          </a:p>
        </p:txBody>
      </p:sp>
      <p:sp>
        <p:nvSpPr>
          <p:cNvPr id="7" name="Rectangle 6"/>
          <p:cNvSpPr/>
          <p:nvPr/>
        </p:nvSpPr>
        <p:spPr>
          <a:xfrm>
            <a:off x="920000" y="266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0000" y="268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0000" y="260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input()录入设备参数并校验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0000" y="299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0000" y="301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0000" y="293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print格式对齐输出台账卡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20000" y="332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0000" y="334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0000" y="326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交换两个变量的3种写法试验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50000" y="1850000"/>
            <a:ext cx="4300000" cy="410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50000" y="1980000"/>
            <a:ext cx="395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5670F"/>
                </a:solidFill>
                <a:latin typeface="微软雅黑"/>
              </a:rPr>
              <a:t>⚠ 注意事项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50000" y="2600000"/>
            <a:ext cx="3950000" cy="3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浮点比较用容差 abs(a-b)&lt;1e-6，不用==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除法/是浮点结果，//才是整除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保存文件用UTF-8编码避免乱码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60 / 93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常见错误速查（避坑清单）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19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SyntaxError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50000" y="19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中文标点/冒号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0000" y="19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全用英文标点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0000" y="31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0000" y="31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0000" y="32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NameError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50000" y="32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拼写不一致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0000" y="32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搜索变量名核对大小写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44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44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0000" y="45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f-string原样输出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50000" y="45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少了f前缀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00000" y="45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加f前缀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61 / 93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2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运行时出现「SyntaxError」，你的排查顺序是？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提示: 原因是中文标点/冒号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62 / 93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ABCD四层任务总览（先看全貌再领任务）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D·学徒（≥60）：首程序仪式——跟做保底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C·操作员（≥70）：基础台账——基础完成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B·组长（≥80）：完整台账卡——标准达成+帮带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A·师傅（≥90）：输入校验+多行台账——进阶拓展+费曼讲解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规则：每人按工单勾选自己的层；每4周按达标情况动态升降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63 / 93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操作核对清单（做完一条勾一条）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步骤1：input()录入设备参数并校验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步骤2：print格式对齐输出台账卡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步骤3：交换两个变量的3种写法试验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全部勾完→同桌互查签字→提交工单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64 / 93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提交前最后一查（90秒）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代码能从头跑到尾不报错（python xx.py再跑一遍）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输出格式符合工单样例（对齐/单位/小数位）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文件命名：学号_姓名_工单号.py（不对=扣规范分）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运行截图已贴工单过程记录栏（过程性证据）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conda环境正确（提示符显示(py02）再运行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65 / 93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任务实施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工单0.1已发布，四层任务各自认领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避坑清单+错误速查在手，卡壳先自查再举手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4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3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操作核对清单做完勾选，提交前90秒最后一查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66 / 93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06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检查与评价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三层质检 · 评分 · 课后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67 / 93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过程检查（三层质检）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1  自检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对照工单checklist逐项自查并截图留证</a:t>
            </a:r>
          </a:p>
        </p:txBody>
      </p:sp>
      <p:sp>
        <p:nvSpPr>
          <p:cNvPr id="8" name="Rectangle 7"/>
          <p:cNvSpPr/>
          <p:nvPr/>
        </p:nvSpPr>
        <p:spPr>
          <a:xfrm>
            <a:off x="425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5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2  互检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5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组间交换检查，互检表记录问题≥1条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0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3  师查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教师抽查复核，重点盯D层完成度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0000" y="520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复盘追问：如果当初选另一个方案，结果会怎样？（决策追责）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68 / 93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提交物与评分（工单0.1）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5300000" cy="38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提交清单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程序/notebook（含运行输出）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分层工单纸件（勾层+自评）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决策矩阵照片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4. 过程记录/避坑笔记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命名: 学号_姓名_0.1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0000" y="1800000"/>
            <a:ext cx="5300000" cy="38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5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评分构成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功能完成 40%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技术质量 25%（指标达标）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代码规范 20%（PEP 8）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工程素养 15%（留痕/协作）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50" b="1">
                <a:solidFill>
                  <a:srgbClr val="44546A"/>
                </a:solidFill>
                <a:latin typeface="微软雅黑"/>
              </a:rPr>
              <a:t>D≥60 / C≥70 / B≥80 / A≥90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69 / 93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总结评价与课后任务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10600000" cy="15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050000"/>
            <a:ext cx="103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评价（10分钟）：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按D/C/B/A量表当堂评分；工单24小时内反馈评语与改进建议。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000" y="370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1.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1. 完成工单项目0.1《设备参数初始化系统》：及格标准定义≥6个变量、≥3种数据类型、规范率≥70%；优秀标准≥8个变量、4种类型、含单位换算与注释、规范率≥90%；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000" y="442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2.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2. 完成环境搭建截图与第一个Hello World程序；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000" y="514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3.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3. 预习条件判断（if/elif/else）。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000" y="5960000"/>
            <a:ext cx="10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475B6"/>
                </a:solidFill>
                <a:latin typeface="微软雅黑"/>
              </a:rPr>
              <a:t>下次课预告：</a:t>
            </a:r>
            <a:r>
              <a:rPr sz="1300" b="0">
                <a:solidFill>
                  <a:srgbClr val="44546A"/>
                </a:solidFill>
                <a:latin typeface="微软雅黑"/>
              </a:rPr>
              <a:t>见下次课工单任务书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70 / 93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素养目标（课程思政融入点）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0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责任感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206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工匠精神：规范命名、及时保存、报错必究的编码习惯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18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18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48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工匠精神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34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工程伦理：数据安全与隐私保护, 不抄代码、引用注明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46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46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76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数据伦理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62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协作素养：ABCD角色轮换履职, 贡献表如实填报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71 / 93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课堂实况与运行截图（教师课后替换）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19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000" y="25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［插入运行截图 / 实拍照片］</a:t>
            </a:r>
          </a:p>
        </p:txBody>
      </p:sp>
      <p:sp>
        <p:nvSpPr>
          <p:cNvPr id="7" name="Rectangle 6"/>
          <p:cNvSpPr/>
          <p:nvPr/>
        </p:nvSpPr>
        <p:spPr>
          <a:xfrm>
            <a:off x="700000" y="37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0000" y="43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［插入运行截图 / 实拍照片］</a:t>
            </a:r>
          </a:p>
        </p:txBody>
      </p:sp>
      <p:sp>
        <p:nvSpPr>
          <p:cNvPr id="9" name="Rectangle 8"/>
          <p:cNvSpPr/>
          <p:nvPr/>
        </p:nvSpPr>
        <p:spPr>
          <a:xfrm>
            <a:off x="5560000" y="19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60000" y="25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［插入运行截图 / 实拍照片］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560000" y="37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60000" y="43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［插入运行截图 / 实拍照片］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72 / 93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工单评分细则（四级量表）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000000"/>
            <a:ext cx="3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00" y="2120000"/>
            <a:ext cx="3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等级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达标线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66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对应要求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0000" y="270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000" y="280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A·师傅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≥90分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进阶拓展完成+2分钟费曼展示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0000" y="332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000" y="342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B·组长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≥80分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全功能+代码规范+帮带D/C层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0000" y="394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0000" y="404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C·操作员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≥70分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基础功能完成+错误速查自查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0000" y="456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0000" y="466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D·学徒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00000" y="456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00000" y="466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≥60分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600000" y="456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00000" y="466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跟做完成核心步骤+达标自评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00" y="530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功能40%+技术质量25%+代码规范20%+工程素养15%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73 / 93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高频FAQ（先自查再举手）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28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9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pip装包很慢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配清华镜像：pip config set global.index-url https://pypi.tuna.tsinghua.edu.cn/simple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28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280000"/>
            <a:ext cx="2000000" cy="12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72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Jupyter启动不了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40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先conda activate py02再jupyter notebook；看报错第一行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71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710000"/>
            <a:ext cx="2000000" cy="128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515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代码能跑但不规范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83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对照PEP 8卡：snake_case命名+4空格缩进+f-string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74 / 93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资源导航（卡住时按顺序查）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06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工单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0.1任务书——步骤/及格线/评分细则都在里面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82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2820000"/>
            <a:ext cx="2000000" cy="8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03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starter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294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学生代码框架/——TODO注释即步骤提示，未填也能跑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379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3790000"/>
            <a:ext cx="2000000" cy="8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00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软件指南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391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../软件操作指南/——PyCharm/Jupyter/Git/Anaconda六份图文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476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4760000"/>
            <a:ext cx="2000000" cy="8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497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Jupyter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488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Jupyter实训/——本周notebook师生版，先跑教师版看答案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0000" y="573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60000" y="5730000"/>
            <a:ext cx="2000000" cy="8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0000" y="594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Git提交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00000" y="585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做完按Ctrl+K提交推送——每周至少1次，工程素养分依据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75 / 93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检查与评价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三层质检：自检→互查签字→教师抽查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评分四级量表+四权重已明确，24小时内平台反馈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4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3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课后任务+下次课预告形成学习闭环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76 / 93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07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拓展与自测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把今天的能力圈再画大一圈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77 / 93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产业应用案例（学这个能干什么）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真实场景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车间设备台账还靠Excel手抄，格式天天错、查找靠肉眼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用什么解决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Python变量+f-string+文件读写，30行代码生成规范台账卡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本课对应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0.1的技能点即其最小实现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延伸方向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下一步：把台账接到数据库（03课P5）/自动采集（02课W11）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78 / 93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课程思政：如盐入水（30秒一个点）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工匠精神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报错必究——每个红色报错都是产线隐患的预演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数据诚信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指标不许造假——改数字骗过测试=产线事故的起点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协作素养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ABCD轮换履职——师傅带徒弟，贡献表如实填报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职业底线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代码抄作业=岗位上的'无证驾驶'，害人害己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79 / 93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学习策略：这门课怎么学最有效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先例后理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先跑代码看结果，再回头懂原理——PRIMM教学法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费曼技巧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A层讲给D层听——讲得清才是真懂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错题资产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每个报错记入错误速查表——期末它是你的复习宝典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提交习惯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小步提交（每完成一步就commit）——回退不求人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80 / 93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进阶路线图（从今天的课往哪走）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本周：工单核心技能→下周：组合应用→期末：综合项目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横向：本课技能在03课P项目链中的位置（工程化/全栈）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纵向：证书线——初级操作题→中级工程题（1+X/工信部）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竞赛线：校级选拔→世界职业院校技能大赛（人工智能赛道）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岗位线：跟做学徒→独立操作→带组师傅→产线负责人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81 / 93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本周各层达标预期（%）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1896000" y="2600000"/>
            <a:ext cx="1400000" cy="28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96000" y="20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D层·跟做保底</a:t>
            </a:r>
          </a:p>
        </p:txBody>
      </p:sp>
      <p:sp>
        <p:nvSpPr>
          <p:cNvPr id="8" name="Rectangle 7"/>
          <p:cNvSpPr/>
          <p:nvPr/>
        </p:nvSpPr>
        <p:spPr>
          <a:xfrm>
            <a:off x="3996000" y="3160000"/>
            <a:ext cx="1400000" cy="224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96000" y="260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80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C层·基础完成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6000" y="3720000"/>
            <a:ext cx="1400000" cy="1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96000" y="316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60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B层·标准达成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96000" y="4560000"/>
            <a:ext cx="1400000" cy="8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96000" y="400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30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A层·进阶拓展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400000" y="5400000"/>
            <a:ext cx="9400000" cy="3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000" y="61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预期≠上限：动态升降制下人人可冲上一层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82 / 93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课前预习清单（下次课前完成）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微课知识卡：安装Python与PyCharm CE并运行首程序——应用：见工（5分钟视频+导学单）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Jupyter实训notebook：先跑教师版看答案，再试学生版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预习快问：下次课quiz从微课与导学单出题——带着答案来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Git推送本周工单：还没提交的课后补上（周达标率依据）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83 / 93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知识口袋书（本课概念速记）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① 变量=给值贴标签；动态类型随值走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② 四种基本类型：int/float/str/bool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③ type()查看类型；int('36')显式转换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用法：睡前30秒过一遍——口袋书越翻越薄，技能越练越厚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84 / 93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输出对比：好的 vs 差的（规范从第一课开始）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好的输出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表头对齐·单位齐全·小数位统一·命名规范（snake_case）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差的输出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数字裸奔无单位·列不对齐·temp1/temp2乱命名·中文引号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差多少分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同样的功能——规范20%+素养15%两项就能差出35分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为什么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车间台账要给人看——读不懂的输出=没交付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85 / 93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多解法一瞥（同一任务的不同打法）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解法A·直白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按工单步骤顺序实现——好懂好调试，D/C层路线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解法B·工程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函数封装+异常处理——可复用，B层路线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解法C·进阶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向量化/推导式/设计模式——性能优雅，A层路线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怎么选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先让它跑起来→再让它对→最后让它快（KISS原则）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86 / 93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自测答案与讲解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课前快问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Python变量为什么不需要先声明类型？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排错题：出现「SyntaxError」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原因：中文标点/冒号；解决：全用英文标点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复述题：用自己的话说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变量=给值贴标签；动态类型随值走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错题怎么办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回看对应知识卡+应用页，再跑一遍starter验证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87 / 93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今日一图流总结（贴脑墙上）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知识：变量=给值贴标签；动态类型随值走；四种基本类型：int/float/str；type()查看类型；int('36')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技能：安装Python与PyCharm CE并运行首程序——应用：见工单starter与教师参考实现；定义多类型变量并格式化输出台账卡——应用：见工单starter与教师参考实现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交付：工单0.1《设备参数初始化系统》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习惯：做完就Ctrl+K提交Git——每周至少1次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5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5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明日：课前微课+导学单（下次课quiz从中出题）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88 / 93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工具箱①：Git提交四步（每周必做）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第1步·暂存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PyCharm按 Ctrl+K → 勾选改动文件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第2步·提交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Commit Message 按前缀写：feat:完成W1工单核心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第3步·推送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Ctrl+Shift+K 推送到 GitHub/Gitee——云端可查才算交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第4步·验证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网页刷新看到新提交=成功；每周≥1次，工程素养分依据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89 / 93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工具箱②：conda环境三命令（换课先切环境）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28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9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激活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conda activate py02——提示符变(py02)才对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28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280000"/>
            <a:ext cx="2000000" cy="12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72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装包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40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激活后再 pip install——装错环境=白装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71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710000"/>
            <a:ext cx="2000000" cy="128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515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核对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83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python -c "import sys; print(sys.executable)" 路径含envs才对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90 / 93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工具箱③：PyCharm效率五键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06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Shift+F10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运行当前文件（^R macOS）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82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2820000"/>
            <a:ext cx="2000000" cy="8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03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Shift+F9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294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调试——断点停在红点行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379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3790000"/>
            <a:ext cx="2000000" cy="8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00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Ctrl+Alt+L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391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格式化代码（⌘⌥L）——交作业前必按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476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4760000"/>
            <a:ext cx="2000000" cy="8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497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Ctrl+/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488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注释/取消注释——调试好帮手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0000" y="573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60000" y="5730000"/>
            <a:ext cx="2000000" cy="8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0000" y="594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Ctrl+`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00000" y="585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开关注册终端——跑服务/装包都在这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91 / 93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80360"/>
            <a:ext cx="12192000" cy="5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645920"/>
            <a:ext cx="12192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微软雅黑"/>
              </a:rPr>
              <a:t>THANKS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429000"/>
            <a:ext cx="121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5670F"/>
                </a:solidFill>
                <a:latin typeface="微软雅黑"/>
              </a:rPr>
              <a:t>感谢聆听 · 动手实践出真知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526280"/>
            <a:ext cx="12192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BBC6E6"/>
                </a:solidFill>
                <a:latin typeface="微软雅黑"/>
              </a:rPr>
              <a:t>以生为本   |   做中学 · 学中做</a:t>
            </a:r>
          </a:p>
        </p:txBody>
      </p:sp>
      <p:sp>
        <p:nvSpPr>
          <p:cNvPr id="7" name="Rectangle 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92 / 93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下次课预告（第2周）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50000" cy="1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0000" y="2050000"/>
            <a:ext cx="105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主题: 编写多级阈值判断逻辑——应用：见工单starte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预习快问: temp=80时，‘temp&gt;=80’和‘temp&gt;80’结果分别是什么？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39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课前完成：导学单 + 预习自测 + starter环境自检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带着问题来上课——Predict先于Run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