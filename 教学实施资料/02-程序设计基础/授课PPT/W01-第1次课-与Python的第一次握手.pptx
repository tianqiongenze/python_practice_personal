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开场30秒：本次课《与Python的第一次握手》，80分钟＝2课时×40分钟。课前已发工单+starter+微课知识卡，资讯·计划线上完成。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部分小结：三句话收束定位部分，转流程。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分层节奏：D层跟做保底、C层基础完成、B层标准达成、A层进阶拓展；每人按工单勾选自己的层，每4周动态升降。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产业数据卡：让学生看到'学的技能=产线的数字'，建立真实感。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部分小结：时间盒+分层节奏收束，转目标。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目标解读：点读1-2个关键动词（能编写/能诊断/能部署），说明这就是今天工单的验收口径。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快问快答：同桌互问30秒，举手表决；答案不公布，留到知识精讲验证。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随堂自测：先答后揭晓，答对记过程分——为目标达成做第一次探测。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部分小结：目标+剧情+自测收束，转知识精讲。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知识卡1：变量=给值贴标签；动态类型随值走——应用：dev_code='PUMP-03'; temp=78.5; print(type(temp))→&lt;class 'float'&gt;，同一变量可随时换类型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知识卡2：四种基本类型：int/float/str/bool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知识卡3：type()查看类型；int('36')显式转换——应用：isinstance(temp,float)做类型守卫防传入字符串温度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知识卡4：f-string格式化：f"温度{t:.1f}℃"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知识卡5：单位换算公式：F=C*9/5+32；MPa=kPa/1000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知识卡6：PEP 8启蒙：snake_case命名+4空格缩进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快查核对：遮住左栏让学生说右栏含义；全对的小组加过程分。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深化讲解：面向A/B层的进阶理解，C/D层听懂结论即可。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深化展开：每条要点配一个'为什么'，A层准备2分钟费曼讲解。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技能展开：逐条读技能，指读工单对应步骤——把'学'和'考'对齐。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现场演示《台账卡输出》：三步走——先整段跑通看结果，再逐行讲关键语句，最后现场改一个参数看输出变化（演10分钟的核心素材）。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代码走读：一页拆一段——学生跟着读，不是抄。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强调柱状图最右两根：实施二25分钟是冲优秀的时间，评价10分钟不压缩——当堂评分、24小时内反馈。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工单发布话术：'精密制造事业部发来工单0.1《设备参数初始化系统》，及格线是≥，优秀线看A层标准'——念完发starter。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D层步骤详解：逐条读步骤——D层照着做，A层做完讲给别人。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C层步骤详解：逐条读步骤——D层照着做，A层做完讲给别人。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B层步骤详解：逐条读步骤——D层照着做，A层做完讲给别人。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A层步骤详解：逐条读步骤——D层照着做，A层做完讲给别人。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错误速查：现场演示第一条——制造「SyntaxError」，带着学生按'现象→原因→解决'三步排查。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先让学生说排查顺序再给提示：训练'看报错信息'的条件反射。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部分小结：实施收束，转检查评价。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预习知识点：Python开发环境安装(IDE/解释器)；print与input；变量与基本数据类型 | 课中检查知识点：能独立打开IDE并运行print('hello')；能说出int/float/str的区别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Git工具箱：投屏演示一遍四步——学生跟着做一次就记住了。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conda工具箱：三个命令一页——换课/换机先跑这三条。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PyCharm工具箱：五个键每天用——现场带练一遍。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与Python的第一次握手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02 / 100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03 / 100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04 /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05 / 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与Pyth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on的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 · f-string格式化：f"温度{t:.1f}℃"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06 / 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基础知识线：变量=给值贴标签；动态类型随值走——应用：dev_code='PUMP-03'; temp=78.5; print(type(temp))→&lt;class 'float'&gt;，同一变量可随时换类型；四种基本类型：int/float/str/bool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继续夯实线：type()查看类型；int('36')显式转换——应用：isinstance(temp,float)做类型守卫防传入字符串温度；f-string格式化：f"温度{t:.1f}℃"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4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07 / 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技能线：安装Python与PyCharm CE并运行首程序——应用：见工单starter与教师参考实现；定义多类型变量并格式化输出台账卡——应用：见工单starter与教师参考实现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08 / 100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0.1《设备参数初始化系统》——本课工单即考核单元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09 / 100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本课在课程体系：专业核心基础课：面向零基础新生的编程第一课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知识地图五分支：基础→夯实→技能→分层→评价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岗课赛证四维坐标已明确，带着目标进课堂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80分钟课堂节奏（学生自查）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18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3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0-10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00000" y="2030000"/>
            <a:ext cx="33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资讯回顾+决策矩阵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0" y="2030000"/>
            <a:ext cx="5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我要做到: 跟上讨论, 记下结论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2770000"/>
            <a:ext cx="10900000" cy="8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2770000"/>
            <a:ext cx="18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295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10-40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0" y="2950000"/>
            <a:ext cx="33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第一轮实施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950000"/>
            <a:ext cx="5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我要做到: 完成本层核心任务主体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690000"/>
            <a:ext cx="10900000" cy="82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690000"/>
            <a:ext cx="18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7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40-45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0000" y="3870000"/>
            <a:ext cx="33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三层检查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3870000"/>
            <a:ext cx="5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我要做到: 自检表勾完+互检1条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000" y="4610000"/>
            <a:ext cx="10900000" cy="8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0000" y="4610000"/>
            <a:ext cx="18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0000" y="479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45-70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0000" y="4790000"/>
            <a:ext cx="33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第二轮实施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000" y="4790000"/>
            <a:ext cx="5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我要做到: 优化/冲标准/补漏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530000"/>
            <a:ext cx="10900000" cy="82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530000"/>
            <a:ext cx="18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71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70-80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00000" y="5710000"/>
            <a:ext cx="33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评价+课后布置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000" y="5710000"/>
            <a:ext cx="5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我要做到: 自评打分, 记录课后任务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两江智造产线运营指标（虚拟产线月度数据）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6000" y="4175000"/>
            <a:ext cx="1400000" cy="1225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6000" y="3615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设备接入数（台/月）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6000" y="2600000"/>
            <a:ext cx="1400000" cy="28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告警响应达标率(%)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46000" y="2833334"/>
            <a:ext cx="1400000" cy="2566666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6000" y="2273334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台账电子化率(%)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数据来自虚拟产线五件套——你写的代码就在处理这些数据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课堂流程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四步法：讲10→演10→模仿10→练习10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分层节奏：D/C/B/A各就各位，每4周动态升降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评价环节10分钟不压缩——当堂评分、24小时反馈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100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100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100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目标：能够独立搭建Python开发环境并运行程序；能够编写50-100行的设备参数初始化程序；代码规范率≥70%。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100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目标：建立对编程工具的信心与兴趣，养成规范命名、及时保存的编码习惯，树立“代码即工程文件”的意识。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温度用int还是float？为什么？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100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题目：温度用int还是float？为什么？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100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课堂即时练习 1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2000000"/>
            <a:ext cx="10900000" cy="1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2000000"/>
            <a:ext cx="150000" cy="1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0000" y="2150000"/>
            <a:ext cx="104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题目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温度用int还是float？为什么？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42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提示: 中文引号/冒号会报SyntaxError——用英文标点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53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⏱ 3分钟 · 同桌互查 · 举手验证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100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100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任务背景：入职第一天，王主任把小郑领到中控室：'十台注塑机的铭牌参数还在Excel里躺了三年。'你的第一份工作不是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100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100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课堂即时练习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2000000"/>
            <a:ext cx="10900000" cy="1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2000000"/>
            <a:ext cx="150000" cy="1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0000" y="2150000"/>
            <a:ext cx="104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题目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42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提示: 温度用int还是float？为什么？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53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⏱ 3分钟 · 同桌互查 · 举手验证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100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课堂即时练习 4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2000000"/>
            <a:ext cx="10900000" cy="1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2000000"/>
            <a:ext cx="150000" cy="1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0000" y="2150000"/>
            <a:ext cx="104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题目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排错题：出现「SyntaxError」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42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提示: 原因：中文标点/冒号；解决：全用英文标点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53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⏱ 3分钟 · 同桌互查 · 举手验证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100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课堂即时练习 5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2000000"/>
            <a:ext cx="10900000" cy="1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2000000"/>
            <a:ext cx="150000" cy="1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0000" y="2150000"/>
            <a:ext cx="104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题目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42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提示: 变量=给值贴标签；动态类型随值走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53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⏱ 3分钟 · 同桌互查 · 举手验证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100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目标与资讯·情境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三维目标已明确，达标口径=工单评分表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剧情任务：入职第一天，王主任把小郑领到中控室：'十台注塑机的铭牌参数还在E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64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54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随堂自测完成第一次探测，带着问题进精讲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100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100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100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知识应用（1）：变量=给值贴标签；动态类型随值走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变量=给值贴标签；动态类型随值走。在两江智造产线上的用法：dev_code='PUMP-03'; temp=78.5; print(type(temp))→&lt;class 'float'&gt;，同一变量可随时换类型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dev_code='PUMP-03'; temp=78.5; print(type(temp))→&lt;class 'float'&gt;，同一变量可随时换类型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100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四种基本类型：int/float/str/bool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100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100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知识应用（3）：type()查看类型；int('36')显式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type()查看类型；int('36')显式转换。在两江智造产线上的用法：isinstance(temp,float)做类型守卫防传入字符串温度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isinstance(temp,float)做类型守卫防传入字符串温度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100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f-string格式化：f"温度{t:.1f}℃"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100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单位换算公式：F=C*9/5+32；MPa=kPa/1000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100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PEP 8启蒙：snake_case命名+4空格缩进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100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知识快闪：60秒复述以下要点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1800000"/>
            <a:ext cx="10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5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2560000"/>
            <a:ext cx="10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500" b="0">
                <a:solidFill>
                  <a:srgbClr val="010328"/>
                </a:solidFill>
                <a:latin typeface="微软雅黑"/>
              </a:rPr>
              <a:t>四种基本类型：int/float/str/bool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3320000"/>
            <a:ext cx="10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500" b="0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080000"/>
            <a:ext cx="10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4. </a:t>
            </a:r>
            <a:r>
              <a:rPr sz="1500" b="0">
                <a:solidFill>
                  <a:srgbClr val="010328"/>
                </a:solidFill>
                <a:latin typeface="微软雅黑"/>
              </a:rPr>
              <a:t>f-string格式化：f"温度{t:.1f}℃"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" y="4840000"/>
            <a:ext cx="10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5. </a:t>
            </a:r>
            <a:r>
              <a:rPr sz="1500" b="0">
                <a:solidFill>
                  <a:srgbClr val="010328"/>
                </a:solidFill>
                <a:latin typeface="微软雅黑"/>
              </a:rPr>
              <a:t>单位换算公式：F=C*9/5+32；MPa=kPa/1000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000" y="572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同桌互述 → 抽2人全班复述（费曼：能讲清才算懂）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100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知识详解（讲）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21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30000" cy="21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0000" y="2020000"/>
            <a:ext cx="2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知识点1  变量=贴标签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2620000"/>
            <a:ext cx="102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变量是给值起名字：device_id="DEV-001"。Python是动态类型——类型跟着值走，type()随时可查；int整型/float浮点/str文本/bool真假四类常用。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4200000"/>
            <a:ext cx="10900000" cy="21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4200000"/>
            <a:ext cx="130000" cy="21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0000" y="4320000"/>
            <a:ext cx="2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知识点2  f-string格式化输出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0" y="4920000"/>
            <a:ext cx="102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f"温度{temp:.1f}℃"：冒号后控制格式（.1f一位小数、&gt;6右对齐）。台账卡对齐美观全靠它。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100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深化理解：逐条讲透（A层费曼素材）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要点1：('变量=贴标签', '变量是给值起名字：device_id="DEV-001"。Python是动态类型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要点2：('f-string格式化输出', 'f"温度{temp:.1f}℃"：冒号后控制格式（.1f一位小数、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学法：A层用自己的话讲给D层听——讲得清才是真懂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100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定义多类型变量并格式化输出台账卡——应用：见工单starter与教师参考实现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完成单位换算并保留小数——应用：见工单starter与教师参考实现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按规范命名并添加关键注释——应用：见工单starter与教师参考实现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100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 → 工单步骤 → 得分点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技能1：安装Python与PyCharm CE并运行首程序——应用：见工单starter与教师参 → 对应工单步骤1，占功能分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技能2：定义多类型变量并格式化输出台账卡——应用：见工单starter与教师参考实现 → 对应工单步骤2，占功能分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技能3：完成单位换算并保留小数——应用：见工单starter与教师参考实现 → 对应工单步骤3，占功能分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9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87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技能4：按规范命名并添加关键注释——应用：见工单starter与教师参考实现 → 对应工单步骤4，占功能分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9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8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提示：技能点全部来自工单评分点——练技能=挣分数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100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与Python的第一次握手（1）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开发环境搭建：Python 3.12+安装、PyCharm CE/PyCharm配置、交互式解释器（REPL）初体验；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Python基本语法：注释、缩进规则、语句与表达式；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变量与数据类型：int、float、str、bool的定义与转换；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基本运算：算术运算符、比较运算符、赋值运算符；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工业应用场景：设备参数初始化（设备ID、名称、工作状态、温度的存储与输出）。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100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关键代码：台账卡输出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device_id = "DEV-2026-001"; name = "智能注塑机"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temp = 56.5; press_kpa = 450.0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print(f"编号:{device_id}\n名称:{name}")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print(f"温度:{temp:.1f}℃ ({temp*9/5+32:.1f}℉)")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print(f"压力:{press_kpa/1000:.2f}MPa")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100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代码走读：《台账卡输出》逐段拆解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行1：device_id = "DEV-2026-001"; name = "智能注塑机"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行2：temp = 56.5; press_kpa = 450.0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行3：print(f"编号:{device_id}\n名称:{name}")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行4：print(f"温度:{temp:.1f}℃ ({temp*9/5+32:.1f}℉)")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6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5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行5：print(f"压力:{press_kpa/1000:.2f}MPa")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66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64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读法：先看每行的输出→再问'为什么这么写'→最后改参数看变化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100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100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80分钟时间盒分配（分钟）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46000" y="4466667"/>
            <a:ext cx="1400000" cy="933333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6000" y="3906667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决策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6000" y="2600000"/>
            <a:ext cx="1400000" cy="28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实施一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46000" y="4933334"/>
            <a:ext cx="1400000" cy="46666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000" y="4373334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检查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46000" y="3066667"/>
            <a:ext cx="1400000" cy="2333333"/>
          </a:xfrm>
          <a:prstGeom prst="rect">
            <a:avLst/>
          </a:prstGeom>
          <a:solidFill>
            <a:srgbClr val="017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6000" y="2506667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实施二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46000" y="4466667"/>
            <a:ext cx="1400000" cy="933333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46000" y="3906667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评价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评价环节不压缩：10分钟当堂评分+24小时反馈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100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100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课堂教法：四步法（第1-6周）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时长/课时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要点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原理+工业背景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实时代码演示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模仿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跟做保底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练习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独立+小步成功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第7周起切换为完整六步法（资讯·计划课前线上）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100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100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实施任务：工单0.1《设备参数初始化系统》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定义≥6变量≥3种数据类型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f-string输出“设备台账卡”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完成单位换算(℃→℉/kPa→MPa)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≥6变量、≥3类型、规范率≥70%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≥8变量、4类型、换算≥2处、规范率≥90%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100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首程序仪式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运行w01示例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改一个变量值再跑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截图打卡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Hello World跑通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100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D层·学徒：步骤怎么走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第1步：运行w01示例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第2步：改一个变量值再跑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第3步：截图打卡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达标自检：Hello World跑通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100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定义6个变量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print逐项输出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完成1处换算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6变量3类型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100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C层·操作员：步骤怎么走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第1步：定义6个变量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第2步：print逐项输出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第3步：完成1处换算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达标自检：6变量3类型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100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完整台账卡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定义8个变量覆盖4类型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f-string对齐输出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完成℃→℉与kPa→MPa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8变量+2处换算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100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B层·组长：步骤怎么走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第1步：定义8个变量覆盖4类型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第2步：f-string对齐输出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第3步：完成℃→℉与kPa→MPa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达标自检：8变量+2处换算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100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输入校验+多行台账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input录入并校验范围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循环输出多设备台账卡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加单位换算双项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8变量4类型+校验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用input()录入参数并加范围校验（超出提示重输）)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100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A层·师傅：步骤怎么走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第1步：input录入并校验范围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第2步：循环输出多设备台账卡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第3步：加单位换算双项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达标自检：8变量4类型+校验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100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定义≥6变量≥3种数据类型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f-string输出“设备台账卡”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完成单位换算(℃→℉/kPa→MPa)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中文引号/冒号会报SyntaxError——用英文标点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temp=36.5是赋值，temp==36.5是比较，别混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input()返回的都是字符串，算术前要转换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100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SyntaxError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中文标点/冒号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全用英文标点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NameError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搜索变量名核对大小写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f-string原样输出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少了f前缀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加f前缀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100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课堂即时练习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2000000"/>
            <a:ext cx="10900000" cy="1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2000000"/>
            <a:ext cx="150000" cy="1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0000" y="2150000"/>
            <a:ext cx="104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题目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运行时出现「SyntaxError」，你的排查顺序是？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42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提示: 提示: 原因是中文标点/冒号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53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⏱ 3分钟 · 同桌互查 · 举手验证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100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D·学徒（≥60）：首程序仪式——跟做保底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C·操作员（≥70）：基础台账——基础完成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B·组长（≥80）：完整台账卡——标准达成+帮带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A·师傅（≥90）：输入校验+多行台账——进阶拓展+费曼讲解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100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步骤1：定义≥6变量≥3种数据类型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步骤2：f-string输出“设备台账卡”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步骤3：完成单位换算(℃→℉/kPa→MPa)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100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100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任务实施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工单0.1已发布，四层任务各自认领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避坑清单+错误速查在手，卡壳先自查再举手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操作核对清单做完勾选，提交前90秒最后一查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100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100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100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100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完成环境搭建截图与第一个Hello World程序；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预习条件判断（if/elif/else）。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100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100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课堂实况与运行截图（教师课后替换）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［插入运行截图 / 实拍照片］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［插入运行截图 / 实拍照片］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［插入运行截图 / 实拍照片］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［插入运行截图 / 实拍照片］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100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100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100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100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100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79 / 100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80 / 100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81 / 100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82 / 100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83 / 100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84 / 100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微课知识卡：安装Python与PyCharm CE并运行首程序——应用：见工（5分钟视频+导学单）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85 / 100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变量=给值贴标签；动态类型随值走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四种基本类型：int/float/str/bool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type()查看类型；int('36')显式转换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86 / 100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87 / 100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与Pyth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on的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SyntaxError · NameError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88 / 100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89 / 100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本周主题：安装Python与PyCharm CE并运行首程序——应用：见工——5分钟视频+导学单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90 / 100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91 / 100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92 / 100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93 / 100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温度用int还是float？为什么？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排错题：出现「SyntaxError」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原因：中文标点/冒号；解决：全用英文标点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变量=给值贴标签；动态类型随值走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94 / 100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知识：变量=给值贴标签；动态类型随值走；四种基本类型：int/float/str；type()查看类型；int('36')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技能：安装Python与PyCharm CE并运行首程序——应用：见工单starter与教师参考实现；定义多类型变量并格式化输出台账卡——应用：见工单starter与教师参考实现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交付：工单0.1《设备参数初始化系统》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95 / 100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工具箱①：Git提交四步（每周必做）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第1步·暂存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PyCharm按 Ctrl+K → 勾选改动文件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第2步·提交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Commit Message 按前缀写：feat:完成W1工单核心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第3步·推送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Ctrl+Shift+K 推送到 GitHub/Gitee——云端可查才算交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第4步·验证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网页刷新看到新提交=成功；每周≥1次，工程素养分依据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96 / 100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工具箱②：conda环境三命令（换课先切环境）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激活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conda activate py02——提示符变(py02)才对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装包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激活后再 pip install——装错环境=白装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核对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 -c "import sys; print(sys.executable)" 路径含envs才对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97 / 100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工具箱③：PyCharm效率五键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Shift+F10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运行当前文件（^R macOS）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Shift+F9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调试——断点停在红点行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Ctrl+Alt+L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格式化代码（⌘⌥L）——交作业前必按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Ctrl+/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注释/取消注释——调试好帮手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Ctrl+`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开关注册终端——跑服务/装包都在这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98 / 100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99 / 100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编写多级阈值判断逻辑——应用：见工单starte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