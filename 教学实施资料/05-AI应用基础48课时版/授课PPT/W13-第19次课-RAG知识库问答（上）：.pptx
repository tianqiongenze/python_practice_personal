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00.xml" ContentType="application/vnd.openxmlformats-officedocument.presentationml.slide+xml"/>
  <Override PartName="/ppt/slides/slide101.xml" ContentType="application/vnd.openxmlformats-officedocument.presentationml.slide+xml"/>
  <Override PartName="/ppt/slides/slide102.xml" ContentType="application/vnd.openxmlformats-officedocument.presentationml.slide+xml"/>
  <Override PartName="/ppt/slides/slide103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slides/slide98.xml" ContentType="application/vnd.openxmlformats-officedocument.presentationml.slide+xml"/>
  <Override PartName="/ppt/slides/slide9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  <p:sldId id="281" r:id="rId33"/>
    <p:sldId id="282" r:id="rId34"/>
    <p:sldId id="283" r:id="rId35"/>
    <p:sldId id="284" r:id="rId36"/>
    <p:sldId id="285" r:id="rId37"/>
    <p:sldId id="286" r:id="rId38"/>
    <p:sldId id="287" r:id="rId39"/>
    <p:sldId id="288" r:id="rId40"/>
    <p:sldId id="289" r:id="rId41"/>
    <p:sldId id="290" r:id="rId42"/>
    <p:sldId id="291" r:id="rId43"/>
    <p:sldId id="292" r:id="rId44"/>
    <p:sldId id="293" r:id="rId45"/>
    <p:sldId id="294" r:id="rId46"/>
    <p:sldId id="295" r:id="rId47"/>
    <p:sldId id="296" r:id="rId48"/>
    <p:sldId id="297" r:id="rId49"/>
    <p:sldId id="298" r:id="rId50"/>
    <p:sldId id="299" r:id="rId51"/>
    <p:sldId id="300" r:id="rId52"/>
    <p:sldId id="301" r:id="rId53"/>
    <p:sldId id="302" r:id="rId54"/>
    <p:sldId id="303" r:id="rId55"/>
    <p:sldId id="304" r:id="rId56"/>
    <p:sldId id="305" r:id="rId57"/>
    <p:sldId id="306" r:id="rId58"/>
    <p:sldId id="307" r:id="rId59"/>
    <p:sldId id="308" r:id="rId60"/>
    <p:sldId id="309" r:id="rId61"/>
    <p:sldId id="310" r:id="rId62"/>
    <p:sldId id="311" r:id="rId63"/>
    <p:sldId id="312" r:id="rId64"/>
    <p:sldId id="313" r:id="rId65"/>
    <p:sldId id="314" r:id="rId66"/>
    <p:sldId id="315" r:id="rId67"/>
    <p:sldId id="316" r:id="rId68"/>
    <p:sldId id="317" r:id="rId69"/>
    <p:sldId id="318" r:id="rId70"/>
    <p:sldId id="319" r:id="rId71"/>
    <p:sldId id="320" r:id="rId72"/>
    <p:sldId id="321" r:id="rId73"/>
    <p:sldId id="322" r:id="rId74"/>
    <p:sldId id="323" r:id="rId75"/>
    <p:sldId id="324" r:id="rId76"/>
    <p:sldId id="325" r:id="rId77"/>
    <p:sldId id="326" r:id="rId78"/>
    <p:sldId id="327" r:id="rId79"/>
    <p:sldId id="328" r:id="rId80"/>
    <p:sldId id="329" r:id="rId81"/>
    <p:sldId id="330" r:id="rId82"/>
    <p:sldId id="331" r:id="rId83"/>
    <p:sldId id="332" r:id="rId84"/>
    <p:sldId id="333" r:id="rId85"/>
    <p:sldId id="334" r:id="rId86"/>
    <p:sldId id="335" r:id="rId87"/>
    <p:sldId id="336" r:id="rId88"/>
    <p:sldId id="337" r:id="rId89"/>
    <p:sldId id="338" r:id="rId90"/>
    <p:sldId id="339" r:id="rId91"/>
    <p:sldId id="340" r:id="rId92"/>
    <p:sldId id="341" r:id="rId93"/>
    <p:sldId id="342" r:id="rId94"/>
    <p:sldId id="343" r:id="rId95"/>
    <p:sldId id="344" r:id="rId96"/>
    <p:sldId id="345" r:id="rId97"/>
    <p:sldId id="346" r:id="rId98"/>
    <p:sldId id="347" r:id="rId99"/>
    <p:sldId id="348" r:id="rId100"/>
    <p:sldId id="349" r:id="rId101"/>
    <p:sldId id="350" r:id="rId102"/>
    <p:sldId id="351" r:id="rId103"/>
    <p:sldId id="352" r:id="rId104"/>
    <p:sldId id="353" r:id="rId105"/>
    <p:sldId id="354" r:id="rId106"/>
    <p:sldId id="355" r:id="rId107"/>
    <p:sldId id="356" r:id="rId108"/>
    <p:sldId id="357" r:id="rId109"/>
    <p:sldId id="358" r:id="rId110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Relationship Id="rId31" Type="http://schemas.openxmlformats.org/officeDocument/2006/relationships/slide" Target="slides/slide24.xml"/><Relationship Id="rId32" Type="http://schemas.openxmlformats.org/officeDocument/2006/relationships/slide" Target="slides/slide25.xml"/><Relationship Id="rId33" Type="http://schemas.openxmlformats.org/officeDocument/2006/relationships/slide" Target="slides/slide26.xml"/><Relationship Id="rId34" Type="http://schemas.openxmlformats.org/officeDocument/2006/relationships/slide" Target="slides/slide27.xml"/><Relationship Id="rId35" Type="http://schemas.openxmlformats.org/officeDocument/2006/relationships/slide" Target="slides/slide28.xml"/><Relationship Id="rId36" Type="http://schemas.openxmlformats.org/officeDocument/2006/relationships/slide" Target="slides/slide29.xml"/><Relationship Id="rId37" Type="http://schemas.openxmlformats.org/officeDocument/2006/relationships/slide" Target="slides/slide30.xml"/><Relationship Id="rId38" Type="http://schemas.openxmlformats.org/officeDocument/2006/relationships/slide" Target="slides/slide31.xml"/><Relationship Id="rId39" Type="http://schemas.openxmlformats.org/officeDocument/2006/relationships/slide" Target="slides/slide32.xml"/><Relationship Id="rId40" Type="http://schemas.openxmlformats.org/officeDocument/2006/relationships/slide" Target="slides/slide33.xml"/><Relationship Id="rId41" Type="http://schemas.openxmlformats.org/officeDocument/2006/relationships/slide" Target="slides/slide34.xml"/><Relationship Id="rId42" Type="http://schemas.openxmlformats.org/officeDocument/2006/relationships/slide" Target="slides/slide35.xml"/><Relationship Id="rId43" Type="http://schemas.openxmlformats.org/officeDocument/2006/relationships/slide" Target="slides/slide36.xml"/><Relationship Id="rId44" Type="http://schemas.openxmlformats.org/officeDocument/2006/relationships/slide" Target="slides/slide37.xml"/><Relationship Id="rId45" Type="http://schemas.openxmlformats.org/officeDocument/2006/relationships/slide" Target="slides/slide38.xml"/><Relationship Id="rId46" Type="http://schemas.openxmlformats.org/officeDocument/2006/relationships/slide" Target="slides/slide39.xml"/><Relationship Id="rId47" Type="http://schemas.openxmlformats.org/officeDocument/2006/relationships/slide" Target="slides/slide40.xml"/><Relationship Id="rId48" Type="http://schemas.openxmlformats.org/officeDocument/2006/relationships/slide" Target="slides/slide41.xml"/><Relationship Id="rId49" Type="http://schemas.openxmlformats.org/officeDocument/2006/relationships/slide" Target="slides/slide42.xml"/><Relationship Id="rId50" Type="http://schemas.openxmlformats.org/officeDocument/2006/relationships/slide" Target="slides/slide43.xml"/><Relationship Id="rId51" Type="http://schemas.openxmlformats.org/officeDocument/2006/relationships/slide" Target="slides/slide44.xml"/><Relationship Id="rId52" Type="http://schemas.openxmlformats.org/officeDocument/2006/relationships/slide" Target="slides/slide45.xml"/><Relationship Id="rId53" Type="http://schemas.openxmlformats.org/officeDocument/2006/relationships/slide" Target="slides/slide46.xml"/><Relationship Id="rId54" Type="http://schemas.openxmlformats.org/officeDocument/2006/relationships/slide" Target="slides/slide47.xml"/><Relationship Id="rId55" Type="http://schemas.openxmlformats.org/officeDocument/2006/relationships/slide" Target="slides/slide48.xml"/><Relationship Id="rId56" Type="http://schemas.openxmlformats.org/officeDocument/2006/relationships/slide" Target="slides/slide49.xml"/><Relationship Id="rId57" Type="http://schemas.openxmlformats.org/officeDocument/2006/relationships/slide" Target="slides/slide50.xml"/><Relationship Id="rId58" Type="http://schemas.openxmlformats.org/officeDocument/2006/relationships/slide" Target="slides/slide51.xml"/><Relationship Id="rId59" Type="http://schemas.openxmlformats.org/officeDocument/2006/relationships/slide" Target="slides/slide52.xml"/><Relationship Id="rId60" Type="http://schemas.openxmlformats.org/officeDocument/2006/relationships/slide" Target="slides/slide53.xml"/><Relationship Id="rId61" Type="http://schemas.openxmlformats.org/officeDocument/2006/relationships/slide" Target="slides/slide54.xml"/><Relationship Id="rId62" Type="http://schemas.openxmlformats.org/officeDocument/2006/relationships/slide" Target="slides/slide55.xml"/><Relationship Id="rId63" Type="http://schemas.openxmlformats.org/officeDocument/2006/relationships/slide" Target="slides/slide56.xml"/><Relationship Id="rId64" Type="http://schemas.openxmlformats.org/officeDocument/2006/relationships/slide" Target="slides/slide57.xml"/><Relationship Id="rId65" Type="http://schemas.openxmlformats.org/officeDocument/2006/relationships/slide" Target="slides/slide58.xml"/><Relationship Id="rId66" Type="http://schemas.openxmlformats.org/officeDocument/2006/relationships/slide" Target="slides/slide59.xml"/><Relationship Id="rId67" Type="http://schemas.openxmlformats.org/officeDocument/2006/relationships/slide" Target="slides/slide60.xml"/><Relationship Id="rId68" Type="http://schemas.openxmlformats.org/officeDocument/2006/relationships/slide" Target="slides/slide61.xml"/><Relationship Id="rId69" Type="http://schemas.openxmlformats.org/officeDocument/2006/relationships/slide" Target="slides/slide62.xml"/><Relationship Id="rId70" Type="http://schemas.openxmlformats.org/officeDocument/2006/relationships/slide" Target="slides/slide63.xml"/><Relationship Id="rId71" Type="http://schemas.openxmlformats.org/officeDocument/2006/relationships/slide" Target="slides/slide64.xml"/><Relationship Id="rId72" Type="http://schemas.openxmlformats.org/officeDocument/2006/relationships/slide" Target="slides/slide65.xml"/><Relationship Id="rId73" Type="http://schemas.openxmlformats.org/officeDocument/2006/relationships/slide" Target="slides/slide66.xml"/><Relationship Id="rId74" Type="http://schemas.openxmlformats.org/officeDocument/2006/relationships/slide" Target="slides/slide67.xml"/><Relationship Id="rId75" Type="http://schemas.openxmlformats.org/officeDocument/2006/relationships/slide" Target="slides/slide68.xml"/><Relationship Id="rId76" Type="http://schemas.openxmlformats.org/officeDocument/2006/relationships/slide" Target="slides/slide69.xml"/><Relationship Id="rId77" Type="http://schemas.openxmlformats.org/officeDocument/2006/relationships/slide" Target="slides/slide70.xml"/><Relationship Id="rId78" Type="http://schemas.openxmlformats.org/officeDocument/2006/relationships/slide" Target="slides/slide71.xml"/><Relationship Id="rId79" Type="http://schemas.openxmlformats.org/officeDocument/2006/relationships/slide" Target="slides/slide72.xml"/><Relationship Id="rId80" Type="http://schemas.openxmlformats.org/officeDocument/2006/relationships/slide" Target="slides/slide73.xml"/><Relationship Id="rId81" Type="http://schemas.openxmlformats.org/officeDocument/2006/relationships/slide" Target="slides/slide74.xml"/><Relationship Id="rId82" Type="http://schemas.openxmlformats.org/officeDocument/2006/relationships/slide" Target="slides/slide75.xml"/><Relationship Id="rId83" Type="http://schemas.openxmlformats.org/officeDocument/2006/relationships/slide" Target="slides/slide76.xml"/><Relationship Id="rId84" Type="http://schemas.openxmlformats.org/officeDocument/2006/relationships/slide" Target="slides/slide77.xml"/><Relationship Id="rId85" Type="http://schemas.openxmlformats.org/officeDocument/2006/relationships/slide" Target="slides/slide78.xml"/><Relationship Id="rId86" Type="http://schemas.openxmlformats.org/officeDocument/2006/relationships/slide" Target="slides/slide79.xml"/><Relationship Id="rId87" Type="http://schemas.openxmlformats.org/officeDocument/2006/relationships/slide" Target="slides/slide80.xml"/><Relationship Id="rId88" Type="http://schemas.openxmlformats.org/officeDocument/2006/relationships/slide" Target="slides/slide81.xml"/><Relationship Id="rId89" Type="http://schemas.openxmlformats.org/officeDocument/2006/relationships/slide" Target="slides/slide82.xml"/><Relationship Id="rId90" Type="http://schemas.openxmlformats.org/officeDocument/2006/relationships/slide" Target="slides/slide83.xml"/><Relationship Id="rId91" Type="http://schemas.openxmlformats.org/officeDocument/2006/relationships/slide" Target="slides/slide84.xml"/><Relationship Id="rId92" Type="http://schemas.openxmlformats.org/officeDocument/2006/relationships/slide" Target="slides/slide85.xml"/><Relationship Id="rId93" Type="http://schemas.openxmlformats.org/officeDocument/2006/relationships/slide" Target="slides/slide86.xml"/><Relationship Id="rId94" Type="http://schemas.openxmlformats.org/officeDocument/2006/relationships/slide" Target="slides/slide87.xml"/><Relationship Id="rId95" Type="http://schemas.openxmlformats.org/officeDocument/2006/relationships/slide" Target="slides/slide88.xml"/><Relationship Id="rId96" Type="http://schemas.openxmlformats.org/officeDocument/2006/relationships/slide" Target="slides/slide89.xml"/><Relationship Id="rId97" Type="http://schemas.openxmlformats.org/officeDocument/2006/relationships/slide" Target="slides/slide90.xml"/><Relationship Id="rId98" Type="http://schemas.openxmlformats.org/officeDocument/2006/relationships/slide" Target="slides/slide91.xml"/><Relationship Id="rId99" Type="http://schemas.openxmlformats.org/officeDocument/2006/relationships/slide" Target="slides/slide92.xml"/><Relationship Id="rId100" Type="http://schemas.openxmlformats.org/officeDocument/2006/relationships/slide" Target="slides/slide93.xml"/><Relationship Id="rId101" Type="http://schemas.openxmlformats.org/officeDocument/2006/relationships/slide" Target="slides/slide94.xml"/><Relationship Id="rId102" Type="http://schemas.openxmlformats.org/officeDocument/2006/relationships/slide" Target="slides/slide95.xml"/><Relationship Id="rId103" Type="http://schemas.openxmlformats.org/officeDocument/2006/relationships/slide" Target="slides/slide96.xml"/><Relationship Id="rId104" Type="http://schemas.openxmlformats.org/officeDocument/2006/relationships/slide" Target="slides/slide97.xml"/><Relationship Id="rId105" Type="http://schemas.openxmlformats.org/officeDocument/2006/relationships/slide" Target="slides/slide98.xml"/><Relationship Id="rId106" Type="http://schemas.openxmlformats.org/officeDocument/2006/relationships/slide" Target="slides/slide99.xml"/><Relationship Id="rId107" Type="http://schemas.openxmlformats.org/officeDocument/2006/relationships/slide" Target="slides/slide100.xml"/><Relationship Id="rId108" Type="http://schemas.openxmlformats.org/officeDocument/2006/relationships/slide" Target="slides/slide101.xml"/><Relationship Id="rId109" Type="http://schemas.openxmlformats.org/officeDocument/2006/relationships/slide" Target="slides/slide102.xml"/><Relationship Id="rId110" Type="http://schemas.openxmlformats.org/officeDocument/2006/relationships/slide" Target="slides/slide103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0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1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2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3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4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5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6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7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8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9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0.xml"/></Relationships>
</file>

<file path=ppt/notesSlides/_rels/notesSlide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1.xml"/></Relationships>
</file>

<file path=ppt/notesSlides/_rels/notesSlide2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2.xml"/></Relationships>
</file>

<file path=ppt/notesSlides/_rels/notesSlide2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4.xml"/></Relationships>
</file>

<file path=ppt/notesSlides/_rels/notesSlide3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6.xml"/></Relationships>
</file>

<file path=ppt/notesSlides/_rels/notesSlide3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7.xml"/></Relationships>
</file>

<file path=ppt/notesSlides/_rels/notesSlide3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9.xml"/></Relationships>
</file>

<file path=ppt/notesSlides/_rels/notesSlide3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1.xml"/></Relationships>
</file>

<file path=ppt/notesSlides/_rels/notesSlide3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2.xml"/></Relationships>
</file>

<file path=ppt/notesSlides/_rels/notesSlide3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4.xml"/></Relationships>
</file>

<file path=ppt/notesSlides/_rels/notesSlide3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5.xml"/></Relationships>
</file>

<file path=ppt/notesSlides/_rels/notesSlide3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7.xml"/></Relationships>
</file>

<file path=ppt/notesSlides/_rels/notesSlide3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8.xml"/></Relationships>
</file>

<file path=ppt/notesSlides/_rels/notesSlide3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0.xml"/></Relationships>
</file>

<file path=ppt/notesSlides/_rels/notesSlide4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2.xml"/></Relationships>
</file>

<file path=ppt/notesSlides/_rels/notesSlide4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4.xml"/></Relationships>
</file>

<file path=ppt/notesSlides/_rels/notesSlide4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6.xml"/></Relationships>
</file>

<file path=ppt/notesSlides/_rels/notesSlide4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8.xml"/></Relationships>
</file>

<file path=ppt/notesSlides/_rels/notesSlide4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3.xml"/></Relationships>
</file>

<file path=ppt/notesSlides/_rels/notesSlide4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4.xml"/></Relationships>
</file>

<file path=ppt/notesSlides/_rels/notesSlide4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5.xml"/></Relationships>
</file>

<file path=ppt/notesSlides/_rels/notesSlide4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7.xml"/></Relationships>
</file>

<file path=ppt/notesSlides/_rels/notesSlide4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2.xml"/></Relationships>
</file>

<file path=ppt/notesSlides/_rels/notesSlide4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3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开场30秒：《RAG知识库问答（上）：基础实现》，80分钟=2课时×40分钟。课前已发工单+微课知识卡。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议程页30秒：指读分钟归属，强调课前已完成资讯计划。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目录页：给学生'地图感'，30秒。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过渡页：一句话点明为什么学、学了去哪。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念课程性质一行，指读证书衔接（30秒）。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知识地图：先见森林（40秒）。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流程预告。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决策10→实施40→检查10→实施30→评价10口径（4课时周两次课分摊）。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ABCD分层节奏提醒。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产业数据卡：学的技能=产线的数字。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PRIMM之Predict。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点读关键动词，对应工单验收口径。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课前测：点2人说答案，只追问为什么。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情境说书30秒：值班助手1.0总爱'一本正经地胡说'。林工：'让它有据可查——RAG。'知识库、检索、引用标注三件套——工单M4-2：让…</a:t>
            </a:r>
          </a:p>
          <a:p>
            <a:r>
              <a:t>抛问：'如果是你，第一步干什么？'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随堂自测三题：先答后揭晓，答对记过程分。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先例后理。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知识卡1：RAG三步：知识切分向量检索引用生成——应用：见工单star… 讲法：例子→定义→点1人复述。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应用页1：知识点放回产线场景——先看输出再看定义。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知识卡2：切分粒度：太碎丢上下文太整检索糊，先按条目——应用：见工单s… 讲法：例子→定义→点1人复述。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应用页2：知识点放回产线场景——先看输出再看定义。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知识卡3：检索双解：重合度打分(教学直观)→Chroma向量库(工程实… 讲法：例子→定义→点1人复述。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知识卡4：引用标注：每条建议挂条目ID可点开溯源——应用：见工单sta… 讲法：例子→定义→点1人复述。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应用页4：知识点放回产线场景——先看输出再看定义。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知识卡5：幻觉治理：检索为空时宁说查无依据不硬编——应用：见工单sta… 讲法：例子→定义→点1人复述。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应用页5：知识点放回产线场景——先看输出再看定义。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知识卡6：评测口径：检索准确率与生成质量分开评——应用：见工单star… 讲法：例子→定义→点1人复述。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应用页6：知识点放回产线场景——先看输出再看定义。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快查核对：遮左说右。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技能点=做完你应该会。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步骤清单与工单一一对应。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演示《教学版检索》：跑通→逐行→改参数（演的核心素材）。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演示《引用生成》：跑通→逐行→改参数（演的核心素材）。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流程图页：作为'我们现在在哪一步'的路标。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强调时间盒纪律。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先决策再领工单。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决策矩阵：组内3分钟打分，结论理由入工单。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工单发布：'设备智能运维中心工单M4-2'——及格线检索≥80%+引用完整。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D层跟做保底，领做做完即达标。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C层独立完成，卡壳先查错误速查表。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B层全功能+规范，帮带D/C。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A层进阶拓展+2分钟展示（费曼带徒）。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错误速查：现场制造「检索全不中」带学生三步排查。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避坑清单：每条问'为什么会踩'——把'注意'变成'知道为什么注意'。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收尾：检查+评价。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自检→互查签字→教师抽查。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命名'学号_姓名_工单号.zip'，24h反馈。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素养页：点1个真实案例（30秒）。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教材衔接：教材：《人工智能应用基础项目式教程》（程显毅 陈凤妹 王岩 编著，978-7-111-77382-5）— 项目6-7 大模型·语言应用 | 预习知识点：RAG(检索增强生成)；知识库切分/向量检索/引用标注 | 课中检查知识点：搭建最小RAG链路；回答带出处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下次课预告：布置微课与导学单。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4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8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9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0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1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2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3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4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5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6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7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8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9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0.xml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1.xml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2.xml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3.xml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4.xml"/></Relationships>
</file>

<file path=ppt/slides/_rels/slide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5.xml"/></Relationships>
</file>

<file path=ppt/slides/_rels/slide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6.xml"/></Relationships>
</file>

<file path=ppt/slides/_rels/slide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7.xml"/></Relationships>
</file>

<file path=ppt/slides/_rels/slide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8.xml"/></Relationships>
</file>

<file path=ppt/slides/_rels/slide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9.xml"/></Relationships>
</file>

<file path=ppt/slides/_rels/slide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0.xml"/></Relationships>
</file>

<file path=ppt/slides/_rels/slide6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1.xml"/></Relationships>
</file>

<file path=ppt/slides/_rels/slide6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2.xml"/></Relationships>
</file>

<file path=ppt/slides/_rels/slide6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3.xml"/></Relationships>
</file>

<file path=ppt/slides/_rels/slide6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4.xml"/></Relationships>
</file>

<file path=ppt/slides/_rels/slide7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5.xml"/></Relationships>
</file>

<file path=ppt/slides/_rels/slide7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6.xml"/></Relationships>
</file>

<file path=ppt/slides/_rels/slide7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7.xml"/></Relationships>
</file>

<file path=ppt/slides/_rels/slide7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8.xml"/></Relationships>
</file>

<file path=ppt/slides/_rels/slide10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9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78308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783080"/>
            <a:ext cx="12192000" cy="6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250000"/>
            <a:ext cx="10792000" cy="11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200" b="0">
                <a:solidFill>
                  <a:srgbClr val="FFFFFF"/>
                </a:solidFill>
                <a:latin typeface="微软雅黑"/>
              </a:rPr>
              <a:t>AI应用基础（48课时版）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BBC6E6"/>
                </a:solidFill>
                <a:latin typeface="微软雅黑"/>
              </a:rPr>
              <a:t>◆ 重庆两江智造集团 · 设备智能运维中心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00000" y="2263140"/>
            <a:ext cx="5992000" cy="22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3400" b="1">
                <a:solidFill>
                  <a:srgbClr val="010328"/>
                </a:solidFill>
                <a:latin typeface="微软雅黑"/>
              </a:rPr>
              <a:t>RAG知识库问答（上）：基础实现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00000" y="3771900"/>
            <a:ext cx="5992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800" b="0">
                <a:solidFill>
                  <a:srgbClr val="0545E8"/>
                </a:solidFill>
                <a:latin typeface="微软雅黑"/>
              </a:rPr>
              <a:t>第13周 · 第19次课（2课时 · 80分钟）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0">
                <a:solidFill>
                  <a:srgbClr val="44546A"/>
                </a:solidFill>
                <a:latin typeface="微软雅黑"/>
              </a:rPr>
              <a:t>双创中心302实训室 · 理实一体 · 配套：分层工单+starter · 本课主用：Jupyter（全程实训）+ PyCharm CE（starter编码）+ Git/GitHub（每周提交）</a:t>
            </a:r>
          </a:p>
        </p:txBody>
      </p:sp>
      <p:pic>
        <p:nvPicPr>
          <p:cNvPr id="7" name="Picture 6" descr="W13_场景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00000" y="2300000"/>
            <a:ext cx="4100000" cy="3075000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700000" y="5623560"/>
            <a:ext cx="1500000" cy="8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00000" y="5760720"/>
            <a:ext cx="10792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44546A"/>
                </a:solidFill>
                <a:latin typeface="微软雅黑"/>
              </a:rPr>
              <a:t>重庆现代制造职业学院  智能控制学院 · 工业互联网应用专业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本次课议程（六部分 · 80分钟）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850000"/>
            <a:ext cx="5150000" cy="140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850000"/>
            <a:ext cx="950000" cy="14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60000" y="2230000"/>
            <a:ext cx="95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200" b="1">
                <a:solidFill>
                  <a:srgbClr val="FFFFFF"/>
                </a:solidFill>
                <a:latin typeface="微软雅黑"/>
              </a:rP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880000" y="2000000"/>
            <a:ext cx="39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10328"/>
                </a:solidFill>
                <a:latin typeface="微软雅黑"/>
              </a:rPr>
              <a:t>课程定位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1">
                <a:solidFill>
                  <a:srgbClr val="F5670F"/>
                </a:solidFill>
                <a:latin typeface="微软雅黑"/>
              </a:rPr>
              <a:t>课前已读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880000" y="2610000"/>
            <a:ext cx="3900000" cy="5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44546A"/>
                </a:solidFill>
                <a:latin typeface="微软雅黑"/>
              </a:rPr>
              <a:t>性质·岗位·证书</a:t>
            </a:r>
          </a:p>
        </p:txBody>
      </p:sp>
      <p:sp>
        <p:nvSpPr>
          <p:cNvPr id="10" name="Rectangle 9"/>
          <p:cNvSpPr/>
          <p:nvPr/>
        </p:nvSpPr>
        <p:spPr>
          <a:xfrm>
            <a:off x="6270000" y="1850000"/>
            <a:ext cx="5150000" cy="140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270000" y="1850000"/>
            <a:ext cx="950000" cy="14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270000" y="2230000"/>
            <a:ext cx="95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200" b="1">
                <a:solidFill>
                  <a:srgbClr val="FFFFFF"/>
                </a:solidFill>
                <a:latin typeface="微软雅黑"/>
              </a:rPr>
              <a:t>02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90000" y="2000000"/>
            <a:ext cx="39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10328"/>
                </a:solidFill>
                <a:latin typeface="微软雅黑"/>
              </a:rPr>
              <a:t>课堂流程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1">
                <a:solidFill>
                  <a:srgbClr val="F5670F"/>
                </a:solidFill>
                <a:latin typeface="微软雅黑"/>
              </a:rPr>
              <a:t>约2′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90000" y="2610000"/>
            <a:ext cx="3900000" cy="5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44546A"/>
                </a:solidFill>
                <a:latin typeface="微软雅黑"/>
              </a:rPr>
              <a:t>80分钟时间盒与ABCD分层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60000" y="3470000"/>
            <a:ext cx="5150000" cy="140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760000" y="3470000"/>
            <a:ext cx="950000" cy="14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60000" y="3850000"/>
            <a:ext cx="95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200" b="1">
                <a:solidFill>
                  <a:srgbClr val="FFFFFF"/>
                </a:solidFill>
                <a:latin typeface="微软雅黑"/>
              </a:rPr>
              <a:t>03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880000" y="3620000"/>
            <a:ext cx="39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10328"/>
                </a:solidFill>
                <a:latin typeface="微软雅黑"/>
              </a:rPr>
              <a:t>目标与资讯·情境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1">
                <a:solidFill>
                  <a:srgbClr val="F5670F"/>
                </a:solidFill>
                <a:latin typeface="微软雅黑"/>
              </a:rPr>
              <a:t>约5′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880000" y="4230000"/>
            <a:ext cx="3900000" cy="5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44546A"/>
                </a:solidFill>
                <a:latin typeface="微软雅黑"/>
              </a:rPr>
              <a:t>目标+本课剧情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270000" y="3470000"/>
            <a:ext cx="5150000" cy="140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270000" y="3470000"/>
            <a:ext cx="950000" cy="14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270000" y="3850000"/>
            <a:ext cx="95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200" b="1">
                <a:solidFill>
                  <a:srgbClr val="FFFFFF"/>
                </a:solidFill>
                <a:latin typeface="微软雅黑"/>
              </a:rPr>
              <a:t>04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390000" y="3620000"/>
            <a:ext cx="39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10328"/>
                </a:solidFill>
                <a:latin typeface="微软雅黑"/>
              </a:rPr>
              <a:t>知识精讲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1">
                <a:solidFill>
                  <a:srgbClr val="F5670F"/>
                </a:solidFill>
                <a:latin typeface="微软雅黑"/>
              </a:rPr>
              <a:t>约15′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390000" y="4230000"/>
            <a:ext cx="3900000" cy="5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44546A"/>
                </a:solidFill>
                <a:latin typeface="微软雅黑"/>
              </a:rPr>
              <a:t>基础知识大卡+代码演示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60000" y="5090000"/>
            <a:ext cx="5150000" cy="140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760000" y="5090000"/>
            <a:ext cx="950000" cy="14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60000" y="5470000"/>
            <a:ext cx="95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200" b="1">
                <a:solidFill>
                  <a:srgbClr val="FFFFFF"/>
                </a:solidFill>
                <a:latin typeface="微软雅黑"/>
              </a:rPr>
              <a:t>05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880000" y="5240000"/>
            <a:ext cx="39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10328"/>
                </a:solidFill>
                <a:latin typeface="微软雅黑"/>
              </a:rPr>
              <a:t>任务实施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1">
                <a:solidFill>
                  <a:srgbClr val="F5670F"/>
                </a:solidFill>
                <a:latin typeface="微软雅黑"/>
              </a:rPr>
              <a:t>六步法核心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880000" y="5850000"/>
            <a:ext cx="3900000" cy="5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44546A"/>
                </a:solidFill>
                <a:latin typeface="微软雅黑"/>
              </a:rPr>
              <a:t>工单·分层·避坑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270000" y="5090000"/>
            <a:ext cx="5150000" cy="140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6270000" y="5090000"/>
            <a:ext cx="950000" cy="14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270000" y="5470000"/>
            <a:ext cx="95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200" b="1">
                <a:solidFill>
                  <a:srgbClr val="FFFFFF"/>
                </a:solidFill>
                <a:latin typeface="微软雅黑"/>
              </a:rPr>
              <a:t>06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390000" y="5240000"/>
            <a:ext cx="39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10328"/>
                </a:solidFill>
                <a:latin typeface="微软雅黑"/>
              </a:rPr>
              <a:t>检查与评价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1">
                <a:solidFill>
                  <a:srgbClr val="F5670F"/>
                </a:solidFill>
                <a:latin typeface="微软雅黑"/>
              </a:rPr>
              <a:t>约15′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390000" y="5850000"/>
            <a:ext cx="3900000" cy="5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44546A"/>
                </a:solidFill>
                <a:latin typeface="微软雅黑"/>
              </a:rPr>
              <a:t>三层质检·当堂评分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60000" y="6350000"/>
            <a:ext cx="10900000" cy="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0475B6"/>
                </a:solidFill>
                <a:latin typeface="微软雅黑"/>
              </a:rPr>
              <a:t>资讯·计划已课前线上完成——课堂从决策直接开始</a:t>
            </a:r>
          </a:p>
        </p:txBody>
      </p:sp>
      <p:sp>
        <p:nvSpPr>
          <p:cNvPr id="36" name="Rectangle 35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02 / 103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22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本课目录（结构速览）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①课程定位：定位/知识地图/课证赛岗——为什么学这门课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284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73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②课堂流程：80分钟时间盒/分层节奏——今天怎么安排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352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41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③目标与情境：三维目标/剧情拆解/随堂自测——学什么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2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09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④知识精讲：知识卡×应用×深化×代码走读——怎么教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0000" y="488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100000" y="477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⑤任务实施：工单/四层任务/避坑/核对清单——怎么做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20000" y="55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100000" y="545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⑥检查评价+⑦拓展：质检/评分/工具箱/一图流——怎么收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03 / 103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28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怎么用好这套PPT（使用说明）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课前：只看①②③——定位/流程/目标，带问题来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284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73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课中：跟着④⑤走——知识卡打地基，工单练技能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352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41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卡住：查⑤避坑+错误速查，再举手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2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09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课后：⑦拓展自测+预习清单——闭环从课后开始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0000" y="488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100000" y="477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这份PPT=教材+工单说明书+复习提纲三合一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04 / 103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000000" y="2650000"/>
            <a:ext cx="560000" cy="15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750000" y="2450000"/>
            <a:ext cx="9000000" cy="1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6600" b="1">
                <a:solidFill>
                  <a:srgbClr val="F5670F"/>
                </a:solidFill>
                <a:latin typeface="微软雅黑"/>
              </a:rPr>
              <a:t>01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3200" b="1">
                <a:solidFill>
                  <a:srgbClr val="FFFFFF"/>
                </a:solidFill>
                <a:latin typeface="微软雅黑"/>
              </a:rPr>
              <a:t>课程定位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750000" y="4600000"/>
            <a:ext cx="90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0">
                <a:solidFill>
                  <a:srgbClr val="BBC6E6"/>
                </a:solidFill>
                <a:latin typeface="微软雅黑"/>
              </a:rPr>
              <a:t>本课在课程体系中的位置</a:t>
            </a:r>
          </a:p>
        </p:txBody>
      </p:sp>
      <p:sp>
        <p:nvSpPr>
          <p:cNvPr id="6" name="Rectangle 5"/>
          <p:cNvSpPr/>
          <p:nvPr/>
        </p:nvSpPr>
        <p:spPr>
          <a:xfrm>
            <a:off x="8100000" y="5900000"/>
            <a:ext cx="230000" cy="230000"/>
          </a:xfrm>
          <a:prstGeom prst="rect">
            <a:avLst/>
          </a:prstGeom>
          <a:solidFill>
            <a:srgbClr val="F5670F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3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1">
                <a:solidFill>
                  <a:srgbClr val="F5670F"/>
                </a:solidFill>
                <a:latin typeface="微软雅黑"/>
              </a:rPr>
              <a:t>01</a:t>
            </a:r>
          </a:p>
        </p:txBody>
      </p:sp>
      <p:sp>
        <p:nvSpPr>
          <p:cNvPr id="8" name="Rectangle 7"/>
          <p:cNvSpPr/>
          <p:nvPr/>
        </p:nvSpPr>
        <p:spPr>
          <a:xfrm>
            <a:off x="866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59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02</a:t>
            </a:r>
          </a:p>
        </p:txBody>
      </p:sp>
      <p:sp>
        <p:nvSpPr>
          <p:cNvPr id="10" name="Rectangle 9"/>
          <p:cNvSpPr/>
          <p:nvPr/>
        </p:nvSpPr>
        <p:spPr>
          <a:xfrm>
            <a:off x="922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5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03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78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71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04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034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27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05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090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83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06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05 / 103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课程定位：AI应用基础（48课时版）（课程标准摘录）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626000" y="1880000"/>
            <a:ext cx="2652500" cy="427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26000" y="1880000"/>
            <a:ext cx="2652500" cy="56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26000" y="2030000"/>
            <a:ext cx="2652500" cy="3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50" b="1">
                <a:solidFill>
                  <a:srgbClr val="FFFFFF"/>
                </a:solidFill>
                <a:latin typeface="微软雅黑"/>
              </a:rPr>
              <a:t>课程性质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56000" y="2540000"/>
            <a:ext cx="2392500" cy="349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00" b="0">
                <a:solidFill>
                  <a:srgbClr val="010328"/>
                </a:solidFill>
                <a:latin typeface="微软雅黑"/>
              </a:rPr>
              <a:t>专业核心课扩展版：48课时全谱系（数据→ML→DL→视觉→大模型→智能体）</a:t>
            </a:r>
          </a:p>
        </p:txBody>
      </p:sp>
      <p:sp>
        <p:nvSpPr>
          <p:cNvPr id="9" name="Rectangle 8"/>
          <p:cNvSpPr/>
          <p:nvPr/>
        </p:nvSpPr>
        <p:spPr>
          <a:xfrm>
            <a:off x="3388500" y="1880000"/>
            <a:ext cx="2652500" cy="427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388500" y="1880000"/>
            <a:ext cx="2652500" cy="56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388500" y="2030000"/>
            <a:ext cx="2652500" cy="3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50" b="1">
                <a:solidFill>
                  <a:srgbClr val="FFFFFF"/>
                </a:solidFill>
                <a:latin typeface="微软雅黑"/>
              </a:rPr>
              <a:t>面向岗位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518500" y="2540000"/>
            <a:ext cx="2392500" cy="349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00" b="0">
                <a:solidFill>
                  <a:srgbClr val="010328"/>
                </a:solidFill>
                <a:latin typeface="微软雅黑"/>
              </a:rPr>
              <a:t>AI应用工程师、工业视觉开发、工业互联网数据分析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151000" y="1880000"/>
            <a:ext cx="2652500" cy="427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151000" y="1880000"/>
            <a:ext cx="2652500" cy="5600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151000" y="2030000"/>
            <a:ext cx="2652500" cy="3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50" b="1">
                <a:solidFill>
                  <a:srgbClr val="FFFFFF"/>
                </a:solidFill>
                <a:latin typeface="微软雅黑"/>
              </a:rPr>
              <a:t>对接证书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81000" y="2540000"/>
            <a:ext cx="2392500" cy="349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00" b="0">
                <a:solidFill>
                  <a:srgbClr val="010328"/>
                </a:solidFill>
                <a:latin typeface="微软雅黑"/>
              </a:rPr>
              <a:t>1+X AI应用实践（初级=M1-M3/中级=M4/高级=M5）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913500" y="1880000"/>
            <a:ext cx="2652500" cy="427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913500" y="1880000"/>
            <a:ext cx="2652500" cy="56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913500" y="2030000"/>
            <a:ext cx="2652500" cy="3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50" b="1">
                <a:solidFill>
                  <a:srgbClr val="FFFFFF"/>
                </a:solidFill>
                <a:latin typeface="微软雅黑"/>
              </a:rPr>
              <a:t>课程衔接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043500" y="2540000"/>
            <a:ext cx="2392500" cy="349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00" b="0">
                <a:solidFill>
                  <a:srgbClr val="010328"/>
                </a:solidFill>
                <a:latin typeface="微软雅黑"/>
              </a:rPr>
              <a:t>前：无Python先修（零基础·并行开设） → 本课(第4-15周·12周×4课时) → 后：项目实战/毕设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06 / 103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本课知识图谱（先见森林，再见树木）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00000" y="2700000"/>
            <a:ext cx="1700000" cy="13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60000" y="2900000"/>
            <a:ext cx="1580000" cy="11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700" b="1">
                <a:solidFill>
                  <a:srgbClr val="FFFFFF"/>
                </a:solidFill>
                <a:latin typeface="微软雅黑"/>
              </a:rPr>
              <a:t>RAG知识</a:t>
            </a:r>
          </a:p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700" b="1">
                <a:solidFill>
                  <a:srgbClr val="FFFFFF"/>
                </a:solidFill>
                <a:latin typeface="微软雅黑"/>
              </a:rPr>
              <a:t>库问答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00000" y="4300000"/>
            <a:ext cx="17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100" b="0">
                <a:solidFill>
                  <a:srgbClr val="44546A"/>
                </a:solidFill>
                <a:latin typeface="微软雅黑"/>
              </a:rPr>
              <a:t>5条分支导览</a:t>
            </a:r>
          </a:p>
        </p:txBody>
      </p:sp>
      <p:cxnSp>
        <p:nvCxnSpPr>
          <p:cNvPr id="8" name="Connector 7"/>
          <p:cNvCxnSpPr/>
          <p:nvPr/>
        </p:nvCxnSpPr>
        <p:spPr>
          <a:xfrm flipV="1">
            <a:off x="2400000" y="2040000"/>
            <a:ext cx="1050000" cy="1310000"/>
          </a:xfrm>
          <a:prstGeom prst="line">
            <a:avLst/>
          </a:prstGeom>
          <a:ln w="20320">
            <a:solidFill>
              <a:srgbClr val="B9C4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ectangle 8"/>
          <p:cNvSpPr/>
          <p:nvPr/>
        </p:nvSpPr>
        <p:spPr>
          <a:xfrm>
            <a:off x="3500000" y="1650000"/>
            <a:ext cx="8100000" cy="78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500000" y="1650000"/>
            <a:ext cx="1500000" cy="7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560000" y="1870000"/>
            <a:ext cx="1380000" cy="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微软雅黑"/>
              </a:rPr>
              <a:t>基础知识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140000" y="1740000"/>
            <a:ext cx="6340000" cy="6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010328"/>
                </a:solidFill>
                <a:latin typeface="微软雅黑"/>
              </a:rPr>
              <a:t>RAG三步：知识切分向量检索引用生成——应用：见工单starter与教师参考实现 · 切分粒度：太碎丢上下文太整检索糊，先按条目——应用：见工单starter与教师参考实现</a:t>
            </a:r>
          </a:p>
        </p:txBody>
      </p:sp>
      <p:cxnSp>
        <p:nvCxnSpPr>
          <p:cNvPr id="13" name="Connector 12"/>
          <p:cNvCxnSpPr/>
          <p:nvPr/>
        </p:nvCxnSpPr>
        <p:spPr>
          <a:xfrm flipV="1">
            <a:off x="2400000" y="2960000"/>
            <a:ext cx="1050000" cy="390000"/>
          </a:xfrm>
          <a:prstGeom prst="line">
            <a:avLst/>
          </a:prstGeom>
          <a:ln w="20320">
            <a:solidFill>
              <a:srgbClr val="B9C4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ectangle 13"/>
          <p:cNvSpPr/>
          <p:nvPr/>
        </p:nvSpPr>
        <p:spPr>
          <a:xfrm>
            <a:off x="3500000" y="2570000"/>
            <a:ext cx="8100000" cy="78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3500000" y="2570000"/>
            <a:ext cx="1500000" cy="7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560000" y="2790000"/>
            <a:ext cx="1380000" cy="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微软雅黑"/>
              </a:rPr>
              <a:t>继续夯实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140000" y="2660000"/>
            <a:ext cx="6340000" cy="6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010328"/>
                </a:solidFill>
                <a:latin typeface="微软雅黑"/>
              </a:rPr>
              <a:t>检索双解：重合度打分(教学直观)→Chroma向量库(工程实现，见01包rag_chroma_demo) · 引用标注：每条建议挂条目ID可点开溯源——应用：见工单starter与教师参考实现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2400000" y="3350000"/>
            <a:ext cx="1050000" cy="530000"/>
          </a:xfrm>
          <a:prstGeom prst="line">
            <a:avLst/>
          </a:prstGeom>
          <a:ln w="20320">
            <a:solidFill>
              <a:srgbClr val="B9C4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ectangle 18"/>
          <p:cNvSpPr/>
          <p:nvPr/>
        </p:nvSpPr>
        <p:spPr>
          <a:xfrm>
            <a:off x="3500000" y="3490000"/>
            <a:ext cx="8100000" cy="78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3500000" y="3490000"/>
            <a:ext cx="1500000" cy="7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560000" y="3710000"/>
            <a:ext cx="1380000" cy="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微软雅黑"/>
              </a:rPr>
              <a:t>技能点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140000" y="3580000"/>
            <a:ext cx="6340000" cy="6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010328"/>
                </a:solidFill>
                <a:latin typeface="微软雅黑"/>
              </a:rPr>
              <a:t>能搭建最小RAG问答链路——应用：见工单starter与教师参考实现 · 能调top-k与相关度阈值——应用：见工单starter与教师参考实现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2400000" y="3350000"/>
            <a:ext cx="1050000" cy="1450000"/>
          </a:xfrm>
          <a:prstGeom prst="line">
            <a:avLst/>
          </a:prstGeom>
          <a:ln w="20320">
            <a:solidFill>
              <a:srgbClr val="B9C4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ectangle 23"/>
          <p:cNvSpPr/>
          <p:nvPr/>
        </p:nvSpPr>
        <p:spPr>
          <a:xfrm>
            <a:off x="3500000" y="4410000"/>
            <a:ext cx="8100000" cy="78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3500000" y="4410000"/>
            <a:ext cx="1500000" cy="7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560000" y="4630000"/>
            <a:ext cx="1380000" cy="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微软雅黑"/>
              </a:rPr>
              <a:t>分层任务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140000" y="4500000"/>
            <a:ext cx="6340000" cy="6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010328"/>
                </a:solidFill>
                <a:latin typeface="微软雅黑"/>
              </a:rPr>
              <a:t>D跟做保底 · C基础完成 · B标准达成 · A进阶拓展</a:t>
            </a:r>
          </a:p>
        </p:txBody>
      </p:sp>
      <p:cxnSp>
        <p:nvCxnSpPr>
          <p:cNvPr id="28" name="Connector 27"/>
          <p:cNvCxnSpPr/>
          <p:nvPr/>
        </p:nvCxnSpPr>
        <p:spPr>
          <a:xfrm>
            <a:off x="2400000" y="3350000"/>
            <a:ext cx="1050000" cy="2370000"/>
          </a:xfrm>
          <a:prstGeom prst="line">
            <a:avLst/>
          </a:prstGeom>
          <a:ln w="20320">
            <a:solidFill>
              <a:srgbClr val="B9C4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Rectangle 28"/>
          <p:cNvSpPr/>
          <p:nvPr/>
        </p:nvSpPr>
        <p:spPr>
          <a:xfrm>
            <a:off x="3500000" y="5330000"/>
            <a:ext cx="8100000" cy="78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3500000" y="5330000"/>
            <a:ext cx="1500000" cy="7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3560000" y="5550000"/>
            <a:ext cx="1380000" cy="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微软雅黑"/>
              </a:rPr>
              <a:t>课堂评价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140000" y="5420000"/>
            <a:ext cx="6340000" cy="6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010328"/>
                </a:solidFill>
                <a:latin typeface="微软雅黑"/>
              </a:rPr>
              <a:t>功能40% · 技术25% · 规范20% · 素养15%</a:t>
            </a:r>
          </a:p>
        </p:txBody>
      </p:sp>
      <p:sp>
        <p:nvSpPr>
          <p:cNvPr id="33" name="Rectangle 32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07 / 103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知识地图分支详解（一）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基础知识线：RAG三步：知识切分向量检索引用生成——应用：见工单starter与教师参考实现；切分粒度：太碎丢上下文太整检索糊，先按条目——应用：见工单starter与教师参考实现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3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3050000"/>
            <a:ext cx="102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继续夯实线：检索双解：重合度打分(教学直观)→Chroma向量库(工程实现，见01包rag_chroma_demo)；引用标注：每条建议挂条目ID可点开溯源——应用：见工单starter与教师参考实现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4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405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两条线的关系：先打地基（概念），再上楼层（组合应用）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84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73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学法提示：每条知识都配'产线例子'，先例后理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08 / 103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知识地图分支详解（二）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7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技能线：能搭建最小RAG问答链路——应用：见工单starter与教师参考实现；能调top-k与相关度阈值——应用：见工单starter与教师参考实现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31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99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分层任务线：D跟做→C独立→B帮带→A拓展（每4周动态升降）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378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67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课堂评价线：功能40%+技术25%+规范20%+素养15%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4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35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三条线闭环：技能靠任务练，任务按评价收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09 / 103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岗课赛证对照（本课坐标）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8500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850000"/>
            <a:ext cx="2000000" cy="10625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60000" y="21812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岗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00000" y="19700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设备智能运维中心：AI应用工程师、工业视觉开发</a:t>
            </a:r>
          </a:p>
        </p:txBody>
      </p:sp>
      <p:sp>
        <p:nvSpPr>
          <p:cNvPr id="9" name="Rectangle 8"/>
          <p:cNvSpPr/>
          <p:nvPr/>
        </p:nvSpPr>
        <p:spPr>
          <a:xfrm>
            <a:off x="760000" y="30625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60000" y="3062500"/>
            <a:ext cx="2000000" cy="10625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60000" y="33937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课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00000" y="31825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M4-2《RAG知识库问答（上）：基础实现》——本课工单即考核单元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60000" y="42750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60000" y="4275000"/>
            <a:ext cx="2000000" cy="10625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60000" y="46062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证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00000" y="43950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1+X AI应用实践（初级=M1-M3/中级=M4）——本课工单即考点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60000" y="54875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60000" y="5487500"/>
            <a:ext cx="2000000" cy="10625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60000" y="58187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赛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900000" y="56075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世界职业院校技能大赛（人工智能赛道）——数据处理/模型赛项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10 / 103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课程定位 · 小结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900000"/>
            <a:ext cx="2800000" cy="42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60000" y="3300000"/>
            <a:ext cx="28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5400" b="1">
                <a:solidFill>
                  <a:srgbClr val="F5670F"/>
                </a:solidFill>
                <a:latin typeface="微软雅黑"/>
              </a:rPr>
              <a:t>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60000" y="4300000"/>
            <a:ext cx="28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部分小结</a:t>
            </a:r>
          </a:p>
        </p:txBody>
      </p:sp>
      <p:sp>
        <p:nvSpPr>
          <p:cNvPr id="8" name="Rectangle 7"/>
          <p:cNvSpPr/>
          <p:nvPr/>
        </p:nvSpPr>
        <p:spPr>
          <a:xfrm>
            <a:off x="3900000" y="2000000"/>
            <a:ext cx="140000" cy="14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180000" y="1900000"/>
            <a:ext cx="7600000" cy="5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350" b="0">
                <a:solidFill>
                  <a:srgbClr val="010328"/>
                </a:solidFill>
                <a:latin typeface="微软雅黑"/>
              </a:rPr>
              <a:t>本课在M1-M5全谱系中的位置已明确</a:t>
            </a:r>
          </a:p>
        </p:txBody>
      </p:sp>
      <p:sp>
        <p:nvSpPr>
          <p:cNvPr id="10" name="Rectangle 9"/>
          <p:cNvSpPr/>
          <p:nvPr/>
        </p:nvSpPr>
        <p:spPr>
          <a:xfrm>
            <a:off x="3900000" y="2700000"/>
            <a:ext cx="140000" cy="14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180000" y="2600000"/>
            <a:ext cx="7600000" cy="5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350" b="0">
                <a:solidFill>
                  <a:srgbClr val="010328"/>
                </a:solidFill>
                <a:latin typeface="微软雅黑"/>
              </a:rPr>
              <a:t>知识地图五分支：基础→夯实→技能→分层→评价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900000" y="3400000"/>
            <a:ext cx="140000" cy="14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180000" y="3300000"/>
            <a:ext cx="7600000" cy="5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350" b="0">
                <a:solidFill>
                  <a:srgbClr val="010328"/>
                </a:solidFill>
                <a:latin typeface="微软雅黑"/>
              </a:rPr>
              <a:t>岗课赛证四维坐标——带着目标进课堂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11 / 103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000000" y="2650000"/>
            <a:ext cx="560000" cy="15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750000" y="2450000"/>
            <a:ext cx="9000000" cy="1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6600" b="1">
                <a:solidFill>
                  <a:srgbClr val="F5670F"/>
                </a:solidFill>
                <a:latin typeface="微软雅黑"/>
              </a:rPr>
              <a:t>02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3200" b="1">
                <a:solidFill>
                  <a:srgbClr val="FFFFFF"/>
                </a:solidFill>
                <a:latin typeface="微软雅黑"/>
              </a:rPr>
              <a:t>课堂流程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750000" y="4600000"/>
            <a:ext cx="90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0">
                <a:solidFill>
                  <a:srgbClr val="BBC6E6"/>
                </a:solidFill>
                <a:latin typeface="微软雅黑"/>
              </a:rPr>
              <a:t>80分钟时间盒</a:t>
            </a:r>
          </a:p>
        </p:txBody>
      </p:sp>
      <p:sp>
        <p:nvSpPr>
          <p:cNvPr id="6" name="Rectangle 5"/>
          <p:cNvSpPr/>
          <p:nvPr/>
        </p:nvSpPr>
        <p:spPr>
          <a:xfrm>
            <a:off x="810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3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01</a:t>
            </a:r>
          </a:p>
        </p:txBody>
      </p:sp>
      <p:sp>
        <p:nvSpPr>
          <p:cNvPr id="8" name="Rectangle 7"/>
          <p:cNvSpPr/>
          <p:nvPr/>
        </p:nvSpPr>
        <p:spPr>
          <a:xfrm>
            <a:off x="8660000" y="5900000"/>
            <a:ext cx="230000" cy="230000"/>
          </a:xfrm>
          <a:prstGeom prst="rect">
            <a:avLst/>
          </a:prstGeom>
          <a:solidFill>
            <a:srgbClr val="F5670F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59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1">
                <a:solidFill>
                  <a:srgbClr val="F5670F"/>
                </a:solidFill>
                <a:latin typeface="微软雅黑"/>
              </a:rPr>
              <a:t>02</a:t>
            </a:r>
          </a:p>
        </p:txBody>
      </p:sp>
      <p:sp>
        <p:nvSpPr>
          <p:cNvPr id="10" name="Rectangle 9"/>
          <p:cNvSpPr/>
          <p:nvPr/>
        </p:nvSpPr>
        <p:spPr>
          <a:xfrm>
            <a:off x="922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5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03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78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71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04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034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27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05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090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83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06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12 / 103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本次课流程（80分钟时间盒）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800000" y="1900000"/>
            <a:ext cx="10000000" cy="68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00000" y="1900000"/>
            <a:ext cx="1700000" cy="6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30000" y="2000000"/>
            <a:ext cx="16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资讯·计划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700000" y="2000000"/>
            <a:ext cx="15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010328"/>
                </a:solidFill>
                <a:latin typeface="微软雅黑"/>
              </a:rPr>
              <a:t>课前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300000" y="2000000"/>
            <a:ext cx="64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0">
                <a:solidFill>
                  <a:srgbClr val="44546A"/>
                </a:solidFill>
                <a:latin typeface="微软雅黑"/>
              </a:rPr>
              <a:t>线上导学单+预习自测（已完成的打√）</a:t>
            </a:r>
          </a:p>
        </p:txBody>
      </p:sp>
      <p:sp>
        <p:nvSpPr>
          <p:cNvPr id="10" name="Rectangle 9"/>
          <p:cNvSpPr/>
          <p:nvPr/>
        </p:nvSpPr>
        <p:spPr>
          <a:xfrm>
            <a:off x="800000" y="2690000"/>
            <a:ext cx="10000000" cy="680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800000" y="2690000"/>
            <a:ext cx="1700000" cy="68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30000" y="2790000"/>
            <a:ext cx="16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决策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700000" y="2790000"/>
            <a:ext cx="15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010328"/>
                </a:solidFill>
                <a:latin typeface="微软雅黑"/>
              </a:rPr>
              <a:t>10min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300000" y="2790000"/>
            <a:ext cx="64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0">
                <a:solidFill>
                  <a:srgbClr val="44546A"/>
                </a:solidFill>
                <a:latin typeface="微软雅黑"/>
              </a:rPr>
              <a:t>备选方案对比 → 决策矩阵打分 → 结论公示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00000" y="3480000"/>
            <a:ext cx="10000000" cy="68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00000" y="3480000"/>
            <a:ext cx="1700000" cy="6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30000" y="3580000"/>
            <a:ext cx="16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实施一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700000" y="3580000"/>
            <a:ext cx="15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010328"/>
                </a:solidFill>
                <a:latin typeface="微软雅黑"/>
              </a:rPr>
              <a:t>30min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300000" y="3580000"/>
            <a:ext cx="64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0">
                <a:solidFill>
                  <a:srgbClr val="44546A"/>
                </a:solidFill>
                <a:latin typeface="微软雅黑"/>
              </a:rPr>
              <a:t>骨架贯通：体验→应用，完成工单核心功能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00000" y="4270000"/>
            <a:ext cx="10000000" cy="680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800000" y="4270000"/>
            <a:ext cx="1700000" cy="6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30000" y="4370000"/>
            <a:ext cx="16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检查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700000" y="4370000"/>
            <a:ext cx="15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010328"/>
                </a:solidFill>
                <a:latin typeface="微软雅黑"/>
              </a:rPr>
              <a:t>5min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300000" y="4370000"/>
            <a:ext cx="64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0">
                <a:solidFill>
                  <a:srgbClr val="44546A"/>
                </a:solidFill>
                <a:latin typeface="微软雅黑"/>
              </a:rPr>
              <a:t>三层质检：自检—互检—师查</a:t>
            </a:r>
          </a:p>
        </p:txBody>
      </p:sp>
      <p:sp>
        <p:nvSpPr>
          <p:cNvPr id="25" name="Rectangle 24"/>
          <p:cNvSpPr/>
          <p:nvPr/>
        </p:nvSpPr>
        <p:spPr>
          <a:xfrm>
            <a:off x="800000" y="5060000"/>
            <a:ext cx="10000000" cy="68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800000" y="5060000"/>
            <a:ext cx="1700000" cy="6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30000" y="5160000"/>
            <a:ext cx="16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实施二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700000" y="5160000"/>
            <a:ext cx="15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010328"/>
                </a:solidFill>
                <a:latin typeface="微软雅黑"/>
              </a:rPr>
              <a:t>25min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300000" y="5160000"/>
            <a:ext cx="64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0">
                <a:solidFill>
                  <a:srgbClr val="44546A"/>
                </a:solidFill>
                <a:latin typeface="微软雅黑"/>
              </a:rPr>
              <a:t>优化迭代：冲优秀标准/拓展任务</a:t>
            </a:r>
          </a:p>
        </p:txBody>
      </p:sp>
      <p:sp>
        <p:nvSpPr>
          <p:cNvPr id="30" name="Rectangle 29"/>
          <p:cNvSpPr/>
          <p:nvPr/>
        </p:nvSpPr>
        <p:spPr>
          <a:xfrm>
            <a:off x="800000" y="5850000"/>
            <a:ext cx="10000000" cy="680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800000" y="5850000"/>
            <a:ext cx="1700000" cy="68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30000" y="5950000"/>
            <a:ext cx="16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评价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2700000" y="5950000"/>
            <a:ext cx="15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010328"/>
                </a:solidFill>
                <a:latin typeface="微软雅黑"/>
              </a:rPr>
              <a:t>10min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300000" y="5950000"/>
            <a:ext cx="64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0">
                <a:solidFill>
                  <a:srgbClr val="44546A"/>
                </a:solidFill>
                <a:latin typeface="微软雅黑"/>
              </a:rPr>
              <a:t>D/C/B/A量表评分 + 课后任务布置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00000" y="6058000"/>
            <a:ext cx="10000000" cy="2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0475B6"/>
                </a:solidFill>
                <a:latin typeface="微软雅黑"/>
              </a:rPr>
              <a:t>每课时40分钟 · 共80分钟（六步法课堂化）</a:t>
            </a:r>
          </a:p>
        </p:txBody>
      </p:sp>
      <p:sp>
        <p:nvSpPr>
          <p:cNvPr id="36" name="Rectangle 35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13 / 103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80分钟课堂节奏（学生自查）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850000"/>
            <a:ext cx="10900000" cy="82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850000"/>
            <a:ext cx="1800000" cy="82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60000" y="2030000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FFFFF"/>
                </a:solidFill>
                <a:latin typeface="微软雅黑"/>
              </a:rPr>
              <a:t>0-10 min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800000" y="2030000"/>
            <a:ext cx="33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010328"/>
                </a:solidFill>
                <a:latin typeface="微软雅黑"/>
              </a:rPr>
              <a:t>资讯回顾+决策矩阵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300000" y="2030000"/>
            <a:ext cx="52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44546A"/>
                </a:solidFill>
                <a:latin typeface="微软雅黑"/>
              </a:rPr>
              <a:t>我要做到: 跟上讨论, 记下结论</a:t>
            </a:r>
          </a:p>
        </p:txBody>
      </p:sp>
      <p:sp>
        <p:nvSpPr>
          <p:cNvPr id="10" name="Rectangle 9"/>
          <p:cNvSpPr/>
          <p:nvPr/>
        </p:nvSpPr>
        <p:spPr>
          <a:xfrm>
            <a:off x="760000" y="2770000"/>
            <a:ext cx="10900000" cy="820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60000" y="2770000"/>
            <a:ext cx="1800000" cy="82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60000" y="2950000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FFFFF"/>
                </a:solidFill>
                <a:latin typeface="微软雅黑"/>
              </a:rPr>
              <a:t>10-40 min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800000" y="2950000"/>
            <a:ext cx="33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010328"/>
                </a:solidFill>
                <a:latin typeface="微软雅黑"/>
              </a:rPr>
              <a:t>第一轮实施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00000" y="2950000"/>
            <a:ext cx="52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44546A"/>
                </a:solidFill>
                <a:latin typeface="微软雅黑"/>
              </a:rPr>
              <a:t>我要做到: 完成本层核心任务主体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60000" y="3690000"/>
            <a:ext cx="10900000" cy="82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760000" y="3690000"/>
            <a:ext cx="1800000" cy="82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60000" y="3870000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FFFFF"/>
                </a:solidFill>
                <a:latin typeface="微软雅黑"/>
              </a:rPr>
              <a:t>40-45 min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800000" y="3870000"/>
            <a:ext cx="33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010328"/>
                </a:solidFill>
                <a:latin typeface="微软雅黑"/>
              </a:rPr>
              <a:t>三层检查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00000" y="3870000"/>
            <a:ext cx="52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44546A"/>
                </a:solidFill>
                <a:latin typeface="微软雅黑"/>
              </a:rPr>
              <a:t>我要做到: 自检表勾完+互检1条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60000" y="4610000"/>
            <a:ext cx="10900000" cy="820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760000" y="4610000"/>
            <a:ext cx="1800000" cy="82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60000" y="4790000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FFFFF"/>
                </a:solidFill>
                <a:latin typeface="微软雅黑"/>
              </a:rPr>
              <a:t>45-70 min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800000" y="4790000"/>
            <a:ext cx="33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010328"/>
                </a:solidFill>
                <a:latin typeface="微软雅黑"/>
              </a:rPr>
              <a:t>第二轮实施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300000" y="4790000"/>
            <a:ext cx="52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44546A"/>
                </a:solidFill>
                <a:latin typeface="微软雅黑"/>
              </a:rPr>
              <a:t>我要做到: 优化/冲标准/补漏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60000" y="5530000"/>
            <a:ext cx="10900000" cy="82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760000" y="5530000"/>
            <a:ext cx="1800000" cy="82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60000" y="5710000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FFFFF"/>
                </a:solidFill>
                <a:latin typeface="微软雅黑"/>
              </a:rPr>
              <a:t>70-80 min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800000" y="5710000"/>
            <a:ext cx="33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010328"/>
                </a:solidFill>
                <a:latin typeface="微软雅黑"/>
              </a:rPr>
              <a:t>评价+课后布置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300000" y="5710000"/>
            <a:ext cx="52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44546A"/>
                </a:solidFill>
                <a:latin typeface="微软雅黑"/>
              </a:rPr>
              <a:t>我要做到: 自评打分, 记录课后任务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14 / 103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两江智造产线运营指标（虚拟产线月度数据）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2946000" y="2600000"/>
            <a:ext cx="1400000" cy="280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746000" y="2040000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10328"/>
                </a:solidFill>
                <a:latin typeface="微软雅黑"/>
              </a:rPr>
              <a:t>92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6000" y="5480000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44546A"/>
                </a:solidFill>
                <a:latin typeface="微软雅黑"/>
              </a:rPr>
              <a:t>模型准确率(%)</a:t>
            </a:r>
          </a:p>
        </p:txBody>
      </p:sp>
      <p:sp>
        <p:nvSpPr>
          <p:cNvPr id="8" name="Rectangle 7"/>
          <p:cNvSpPr/>
          <p:nvPr/>
        </p:nvSpPr>
        <p:spPr>
          <a:xfrm>
            <a:off x="5046000" y="4030435"/>
            <a:ext cx="1400000" cy="1369565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846000" y="3470435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10328"/>
                </a:solidFill>
                <a:latin typeface="微软雅黑"/>
              </a:rPr>
              <a:t>45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846000" y="5480000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44546A"/>
                </a:solidFill>
                <a:latin typeface="微软雅黑"/>
              </a:rPr>
              <a:t>推理耗时(ms/条)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146000" y="4943479"/>
            <a:ext cx="1400000" cy="456521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946000" y="4383479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10328"/>
                </a:solidFill>
                <a:latin typeface="微软雅黑"/>
              </a:rPr>
              <a:t>15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946000" y="5480000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44546A"/>
                </a:solidFill>
                <a:latin typeface="微软雅黑"/>
              </a:rPr>
              <a:t>人工复核率(%)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400000" y="5400000"/>
            <a:ext cx="9400000" cy="3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60000" y="6100000"/>
            <a:ext cx="109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0475B6"/>
                </a:solidFill>
                <a:latin typeface="微软雅黑"/>
              </a:rPr>
              <a:t>数据来自虚拟产线——你训的模型就在处理这些数据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15 / 103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课堂流程 · 小结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900000"/>
            <a:ext cx="2800000" cy="42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60000" y="3300000"/>
            <a:ext cx="28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5400" b="1">
                <a:solidFill>
                  <a:srgbClr val="F5670F"/>
                </a:solidFill>
                <a:latin typeface="微软雅黑"/>
              </a:rPr>
              <a:t>02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60000" y="4300000"/>
            <a:ext cx="28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部分小结</a:t>
            </a:r>
          </a:p>
        </p:txBody>
      </p:sp>
      <p:sp>
        <p:nvSpPr>
          <p:cNvPr id="8" name="Rectangle 7"/>
          <p:cNvSpPr/>
          <p:nvPr/>
        </p:nvSpPr>
        <p:spPr>
          <a:xfrm>
            <a:off x="3900000" y="2000000"/>
            <a:ext cx="140000" cy="14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180000" y="1900000"/>
            <a:ext cx="7600000" cy="5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350" b="0">
                <a:solidFill>
                  <a:srgbClr val="010328"/>
                </a:solidFill>
                <a:latin typeface="微软雅黑"/>
              </a:rPr>
              <a:t>六步法：决策10→实施40→检查10→实施30→评价10</a:t>
            </a:r>
          </a:p>
        </p:txBody>
      </p:sp>
      <p:sp>
        <p:nvSpPr>
          <p:cNvPr id="10" name="Rectangle 9"/>
          <p:cNvSpPr/>
          <p:nvPr/>
        </p:nvSpPr>
        <p:spPr>
          <a:xfrm>
            <a:off x="3900000" y="2700000"/>
            <a:ext cx="140000" cy="14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180000" y="2600000"/>
            <a:ext cx="7600000" cy="5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350" b="0">
                <a:solidFill>
                  <a:srgbClr val="010328"/>
                </a:solidFill>
                <a:latin typeface="微软雅黑"/>
              </a:rPr>
              <a:t>分层节奏：D/C/B/A各就各位，每4周动态升降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900000" y="3400000"/>
            <a:ext cx="140000" cy="14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180000" y="3300000"/>
            <a:ext cx="7600000" cy="5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350" b="0">
                <a:solidFill>
                  <a:srgbClr val="010328"/>
                </a:solidFill>
                <a:latin typeface="微软雅黑"/>
              </a:rPr>
              <a:t>评价10分钟不压缩——当堂评分、24小时反馈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16 / 103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000000" y="2650000"/>
            <a:ext cx="560000" cy="15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750000" y="2450000"/>
            <a:ext cx="9000000" cy="1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6600" b="1">
                <a:solidFill>
                  <a:srgbClr val="F5670F"/>
                </a:solidFill>
                <a:latin typeface="微软雅黑"/>
              </a:rPr>
              <a:t>03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3200" b="1">
                <a:solidFill>
                  <a:srgbClr val="FFFFFF"/>
                </a:solidFill>
                <a:latin typeface="微软雅黑"/>
              </a:rPr>
              <a:t>目标与资讯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750000" y="4600000"/>
            <a:ext cx="90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0">
                <a:solidFill>
                  <a:srgbClr val="BBC6E6"/>
                </a:solidFill>
                <a:latin typeface="微软雅黑"/>
              </a:rPr>
              <a:t>带着目标进课堂</a:t>
            </a:r>
          </a:p>
        </p:txBody>
      </p:sp>
      <p:sp>
        <p:nvSpPr>
          <p:cNvPr id="6" name="Rectangle 5"/>
          <p:cNvSpPr/>
          <p:nvPr/>
        </p:nvSpPr>
        <p:spPr>
          <a:xfrm>
            <a:off x="810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3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01</a:t>
            </a:r>
          </a:p>
        </p:txBody>
      </p:sp>
      <p:sp>
        <p:nvSpPr>
          <p:cNvPr id="8" name="Rectangle 7"/>
          <p:cNvSpPr/>
          <p:nvPr/>
        </p:nvSpPr>
        <p:spPr>
          <a:xfrm>
            <a:off x="866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59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02</a:t>
            </a:r>
          </a:p>
        </p:txBody>
      </p:sp>
      <p:sp>
        <p:nvSpPr>
          <p:cNvPr id="10" name="Rectangle 9"/>
          <p:cNvSpPr/>
          <p:nvPr/>
        </p:nvSpPr>
        <p:spPr>
          <a:xfrm>
            <a:off x="9220000" y="5900000"/>
            <a:ext cx="230000" cy="230000"/>
          </a:xfrm>
          <a:prstGeom prst="rect">
            <a:avLst/>
          </a:prstGeom>
          <a:solidFill>
            <a:srgbClr val="F5670F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5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1">
                <a:solidFill>
                  <a:srgbClr val="F5670F"/>
                </a:solidFill>
                <a:latin typeface="微软雅黑"/>
              </a:rPr>
              <a:t>03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78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71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04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034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27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05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090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83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06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17 / 103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学习目标</a:t>
            </a:r>
          </a:p>
        </p:txBody>
      </p:sp>
      <p:sp>
        <p:nvSpPr>
          <p:cNvPr id="5" name="Rectangle 4"/>
          <p:cNvSpPr/>
          <p:nvPr/>
        </p:nvSpPr>
        <p:spPr>
          <a:xfrm>
            <a:off x="700000" y="2200000"/>
            <a:ext cx="3300000" cy="34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00000" y="2200000"/>
            <a:ext cx="3300000" cy="7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00000" y="2280000"/>
            <a:ext cx="33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800" b="1">
                <a:solidFill>
                  <a:srgbClr val="FFFFFF"/>
                </a:solidFill>
                <a:latin typeface="微软雅黑"/>
              </a:rPr>
              <a:t>知识目标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80000" y="3100000"/>
            <a:ext cx="2940000" cy="2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知识：RAG三步：知识切分向量检索引用生成——应用：见工单starter与教师参考实现</a:t>
            </a:r>
          </a:p>
        </p:txBody>
      </p:sp>
      <p:sp>
        <p:nvSpPr>
          <p:cNvPr id="9" name="Rectangle 8"/>
          <p:cNvSpPr/>
          <p:nvPr/>
        </p:nvSpPr>
        <p:spPr>
          <a:xfrm>
            <a:off x="4250000" y="2200000"/>
            <a:ext cx="3300000" cy="34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250000" y="2200000"/>
            <a:ext cx="3300000" cy="7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250000" y="2280000"/>
            <a:ext cx="33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800" b="1">
                <a:solidFill>
                  <a:srgbClr val="FFFFFF"/>
                </a:solidFill>
                <a:latin typeface="微软雅黑"/>
              </a:rPr>
              <a:t>能力目标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430000" y="3100000"/>
            <a:ext cx="2940000" cy="2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能力：能搭建最小RAG问答链路——应用：见工单starter与教师参考实现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800000" y="2200000"/>
            <a:ext cx="3300000" cy="34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800000" y="2200000"/>
            <a:ext cx="3300000" cy="7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800000" y="2280000"/>
            <a:ext cx="33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800" b="1">
                <a:solidFill>
                  <a:srgbClr val="FFFFFF"/>
                </a:solidFill>
                <a:latin typeface="微软雅黑"/>
              </a:rPr>
              <a:t>素质目标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980000" y="3100000"/>
            <a:ext cx="2940000" cy="2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素质：数据诚信与工程纪律（课程思政）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18 / 103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课前资讯回顾（六步之“资讯·计划”）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800000" y="2100000"/>
            <a:ext cx="10600000" cy="17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00000" y="2100000"/>
            <a:ext cx="120000" cy="1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00000" y="2280000"/>
            <a:ext cx="10000000" cy="1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5670F"/>
                </a:solidFill>
                <a:latin typeface="微软雅黑"/>
              </a:rPr>
              <a:t>预习快问：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0">
                <a:solidFill>
                  <a:srgbClr val="010328"/>
                </a:solidFill>
                <a:latin typeface="微软雅黑"/>
              </a:rPr>
              <a:t>W13课前测①：本课工单M4-2的及格线是什么？（答：检索≥80%+引用完整）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00000" y="4100000"/>
            <a:ext cx="10600000" cy="1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545E8"/>
                </a:solidFill>
                <a:latin typeface="微软雅黑"/>
              </a:rPr>
              <a:t>课前检查：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0">
                <a:solidFill>
                  <a:srgbClr val="44546A"/>
                </a:solidFill>
                <a:latin typeface="微软雅黑"/>
              </a:rPr>
              <a:t>W13课前测②：'知识切分'用一句话说说你的理解</a:t>
            </a:r>
          </a:p>
        </p:txBody>
      </p:sp>
      <p:sp>
        <p:nvSpPr>
          <p:cNvPr id="9" name="Rectangle 8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19 / 103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18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课前测逐题精讲（错得最多的那道）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7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题目：W13课前测①：本课工单M4-2的及格线是什么？（答：检索≥80%+引用完整）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31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99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正确思路：从'考哪个知识卡'入手——先定位再作答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378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67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常见错误：背概念不看场景；模型题不看数据分布先猜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4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35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本课回收：考点会在知识卡与随堂自测中再次出现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20 / 103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10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知识目标：怎么学·怎么证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7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目标：RAG三步：知识切分向量检索引用生成——应用：见工单starter与教师参考实现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31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99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怎么学：知识卡先例后理→快查核对→应用页回到产线场景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378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67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怎么证：课前quiz+随堂自测+工单'技术质量25%'项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4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35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达标线：能复述定义+能说出产线例子=过关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21 / 103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11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能力目标：怎么练·怎么证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目标：能搭建最小RAG问答链路——应用：见工单starter与教师参考实现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284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73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怎么练：starter跟做（D）→独立完成（C）→规范+帮带（B）→拓展（A）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378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67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怎么证：工单'功能40%'全项+指标达标+运行截图贴过程记录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4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35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达标线：代码能跑+指标达工单线=过关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22 / 103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12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素质目标：怎么养·怎么证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目标：数据诚信与工程纪律（课程思政融入）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284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73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怎么养：指标不造假/随机种子可复现/调参留痕——每个工单都在练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352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41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怎么证：Git提交历史（每周≥1次）+工单'素养15%'项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2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09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达标线：实验可复现+提交记录连续=过关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23 / 103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任务情境（集团项目案例）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800000" y="1780000"/>
            <a:ext cx="10600000" cy="7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0000" y="1880000"/>
            <a:ext cx="102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FFFFF"/>
                </a:solidFill>
                <a:latin typeface="微软雅黑"/>
              </a:rPr>
              <a:t>◆ 重庆两江智造集团 · 设备智能运维中心</a:t>
            </a:r>
          </a:p>
        </p:txBody>
      </p:sp>
      <p:sp>
        <p:nvSpPr>
          <p:cNvPr id="7" name="Rectangle 6"/>
          <p:cNvSpPr/>
          <p:nvPr/>
        </p:nvSpPr>
        <p:spPr>
          <a:xfrm>
            <a:off x="800000" y="2580000"/>
            <a:ext cx="6300000" cy="3600000"/>
          </a:xfrm>
          <a:prstGeom prst="rect">
            <a:avLst/>
          </a:prstGeom>
          <a:solidFill>
            <a:srgbClr val="F7F9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00000" y="2740000"/>
            <a:ext cx="5900000" cy="3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450" b="0">
                <a:solidFill>
                  <a:srgbClr val="010328"/>
                </a:solidFill>
                <a:latin typeface="微软雅黑"/>
              </a:rPr>
              <a:t>值班助手1.0总爱'一本正经地胡说'。林工：'让它有据可查——RAG。'知识库、检索、引用标注三件套——工单M4-2：让每条建议都挂着出处。</a:t>
            </a:r>
          </a:p>
        </p:txBody>
      </p:sp>
      <p:pic>
        <p:nvPicPr>
          <p:cNvPr id="9" name="Picture 8" descr="W13_场景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50000" y="2580000"/>
            <a:ext cx="4150000" cy="3600000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24 / 103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剧情拆解：任务 → 冲突 → 你的决策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7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任务背景：值班助手1.0总爱'一本正经地胡说'。林工：'让它有据可查——RAG。'知识库、检索、引用标注三件套——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31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99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冲突点：数据量/模型选型/算力时限——手工做不完，必须建模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378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67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决策点：用什么模型？怎么验证？指标线定多少？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4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35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带着这三个问题进知识精讲——每个知识点都是解药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25 / 103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课堂即时练习 4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2000000"/>
            <a:ext cx="10900000" cy="19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2000000"/>
            <a:ext cx="150000" cy="19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30000" y="2150000"/>
            <a:ext cx="10400000" cy="1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300" b="1">
                <a:solidFill>
                  <a:srgbClr val="F5670F"/>
                </a:solidFill>
                <a:latin typeface="微软雅黑"/>
              </a:rPr>
              <a:t>题目</a:t>
            </a:r>
          </a:p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W13课前测①：本课工单M4-2的及格线是什么？（答：检索≥80%+引用完整）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0000" y="4200000"/>
            <a:ext cx="109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50" b="0">
                <a:solidFill>
                  <a:srgbClr val="44546A"/>
                </a:solidFill>
                <a:latin typeface="微软雅黑"/>
              </a:rPr>
              <a:t>提示: W13课前测②：'知识切分'用一句话说说你的理解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60000" y="5300000"/>
            <a:ext cx="109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0475B6"/>
                </a:solidFill>
                <a:latin typeface="微软雅黑"/>
              </a:rPr>
              <a:t>⏱ 3分钟 · 同桌互查 · 举手验证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26 / 103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课堂即时练习 5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2000000"/>
            <a:ext cx="10900000" cy="19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2000000"/>
            <a:ext cx="150000" cy="19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30000" y="2150000"/>
            <a:ext cx="10400000" cy="1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300" b="1">
                <a:solidFill>
                  <a:srgbClr val="F5670F"/>
                </a:solidFill>
                <a:latin typeface="微软雅黑"/>
              </a:rPr>
              <a:t>题目</a:t>
            </a:r>
          </a:p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出现「检索全不中」，你的排查顺序是？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0000" y="4200000"/>
            <a:ext cx="109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50" b="0">
                <a:solidFill>
                  <a:srgbClr val="44546A"/>
                </a:solidFill>
                <a:latin typeface="微软雅黑"/>
              </a:rPr>
              <a:t>提示: 提示: 原因是query与库用词不搭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60000" y="5300000"/>
            <a:ext cx="109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0475B6"/>
                </a:solidFill>
                <a:latin typeface="微软雅黑"/>
              </a:rPr>
              <a:t>⏱ 3分钟 · 同桌互查 · 举手验证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27 / 103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课堂即时练习 6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2000000"/>
            <a:ext cx="10900000" cy="19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2000000"/>
            <a:ext cx="150000" cy="19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30000" y="2150000"/>
            <a:ext cx="10400000" cy="1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300" b="1">
                <a:solidFill>
                  <a:srgbClr val="F5670F"/>
                </a:solidFill>
                <a:latin typeface="微软雅黑"/>
              </a:rPr>
              <a:t>题目</a:t>
            </a:r>
          </a:p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复述：RAG三步：知识切分向量检索引用生成——应用：见工单starter与教师参考实现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0000" y="4200000"/>
            <a:ext cx="109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50" b="0">
                <a:solidFill>
                  <a:srgbClr val="44546A"/>
                </a:solidFill>
                <a:latin typeface="微软雅黑"/>
              </a:rPr>
              <a:t>提示: 用自己的话讲给同桌——讲得清才算懂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60000" y="5300000"/>
            <a:ext cx="109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0475B6"/>
                </a:solidFill>
                <a:latin typeface="微软雅黑"/>
              </a:rPr>
              <a:t>⏱ 3分钟 · 同桌互查 · 举手验证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28 / 103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目标与资讯·情境 · 小结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900000"/>
            <a:ext cx="2800000" cy="42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60000" y="3300000"/>
            <a:ext cx="28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5400" b="1">
                <a:solidFill>
                  <a:srgbClr val="F5670F"/>
                </a:solidFill>
                <a:latin typeface="微软雅黑"/>
              </a:rPr>
              <a:t>03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60000" y="4300000"/>
            <a:ext cx="28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部分小结</a:t>
            </a:r>
          </a:p>
        </p:txBody>
      </p:sp>
      <p:sp>
        <p:nvSpPr>
          <p:cNvPr id="8" name="Rectangle 7"/>
          <p:cNvSpPr/>
          <p:nvPr/>
        </p:nvSpPr>
        <p:spPr>
          <a:xfrm>
            <a:off x="3900000" y="2000000"/>
            <a:ext cx="140000" cy="14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180000" y="1900000"/>
            <a:ext cx="7600000" cy="5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350" b="0">
                <a:solidFill>
                  <a:srgbClr val="010328"/>
                </a:solidFill>
                <a:latin typeface="微软雅黑"/>
              </a:rPr>
              <a:t>三维目标已明确，达标口径=工单评分表</a:t>
            </a:r>
          </a:p>
        </p:txBody>
      </p:sp>
      <p:sp>
        <p:nvSpPr>
          <p:cNvPr id="10" name="Rectangle 9"/>
          <p:cNvSpPr/>
          <p:nvPr/>
        </p:nvSpPr>
        <p:spPr>
          <a:xfrm>
            <a:off x="3900000" y="2700000"/>
            <a:ext cx="140000" cy="14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180000" y="2600000"/>
            <a:ext cx="7600000" cy="7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350" b="0">
                <a:solidFill>
                  <a:srgbClr val="010328"/>
                </a:solidFill>
                <a:latin typeface="微软雅黑"/>
              </a:rPr>
              <a:t>剧情任务：值班助手1.0总爱'一本正经地胡说'。林工：'让它有据可查——R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900000" y="3640000"/>
            <a:ext cx="140000" cy="14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180000" y="3540000"/>
            <a:ext cx="7600000" cy="5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350" b="0">
                <a:solidFill>
                  <a:srgbClr val="010328"/>
                </a:solidFill>
                <a:latin typeface="微软雅黑"/>
              </a:rPr>
              <a:t>随堂自测完成第一次探测，带着问题进精讲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29 / 103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000000" y="2650000"/>
            <a:ext cx="560000" cy="15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750000" y="2450000"/>
            <a:ext cx="9000000" cy="1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6600" b="1">
                <a:solidFill>
                  <a:srgbClr val="F5670F"/>
                </a:solidFill>
                <a:latin typeface="微软雅黑"/>
              </a:rPr>
              <a:t>04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3200" b="1">
                <a:solidFill>
                  <a:srgbClr val="FFFFFF"/>
                </a:solidFill>
                <a:latin typeface="微软雅黑"/>
              </a:rPr>
              <a:t>知识精讲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750000" y="4600000"/>
            <a:ext cx="90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0">
                <a:solidFill>
                  <a:srgbClr val="BBC6E6"/>
                </a:solidFill>
                <a:latin typeface="微软雅黑"/>
              </a:rPr>
              <a:t>基础知识 → 技能 → 代码</a:t>
            </a:r>
          </a:p>
        </p:txBody>
      </p:sp>
      <p:sp>
        <p:nvSpPr>
          <p:cNvPr id="6" name="Rectangle 5"/>
          <p:cNvSpPr/>
          <p:nvPr/>
        </p:nvSpPr>
        <p:spPr>
          <a:xfrm>
            <a:off x="810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3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01</a:t>
            </a:r>
          </a:p>
        </p:txBody>
      </p:sp>
      <p:sp>
        <p:nvSpPr>
          <p:cNvPr id="8" name="Rectangle 7"/>
          <p:cNvSpPr/>
          <p:nvPr/>
        </p:nvSpPr>
        <p:spPr>
          <a:xfrm>
            <a:off x="866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59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02</a:t>
            </a:r>
          </a:p>
        </p:txBody>
      </p:sp>
      <p:sp>
        <p:nvSpPr>
          <p:cNvPr id="10" name="Rectangle 9"/>
          <p:cNvSpPr/>
          <p:nvPr/>
        </p:nvSpPr>
        <p:spPr>
          <a:xfrm>
            <a:off x="922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5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03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780000" y="5900000"/>
            <a:ext cx="230000" cy="230000"/>
          </a:xfrm>
          <a:prstGeom prst="rect">
            <a:avLst/>
          </a:prstGeom>
          <a:solidFill>
            <a:srgbClr val="F5670F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71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1">
                <a:solidFill>
                  <a:srgbClr val="F5670F"/>
                </a:solidFill>
                <a:latin typeface="微软雅黑"/>
              </a:rPr>
              <a:t>04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034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27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05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090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83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06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30 / 103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基础知识 B01</a:t>
            </a:r>
          </a:p>
        </p:txBody>
      </p:sp>
      <p:sp>
        <p:nvSpPr>
          <p:cNvPr id="5" name="Rectangle 4"/>
          <p:cNvSpPr/>
          <p:nvPr/>
        </p:nvSpPr>
        <p:spPr>
          <a:xfrm>
            <a:off x="1400000" y="2300000"/>
            <a:ext cx="9400000" cy="26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400000" y="2300000"/>
            <a:ext cx="200000" cy="260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00000" y="1250000"/>
            <a:ext cx="18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3000" b="1">
                <a:solidFill>
                  <a:srgbClr val="F5670F"/>
                </a:solidFill>
                <a:latin typeface="微软雅黑"/>
              </a:rPr>
              <a:t>B01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900000" y="2900000"/>
            <a:ext cx="8600000" cy="1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2000" b="1">
                <a:solidFill>
                  <a:srgbClr val="010328"/>
                </a:solidFill>
                <a:latin typeface="微软雅黑"/>
              </a:rPr>
              <a:t>RAG三步：知识切分向量检索引用生成——应用：见工单starter与教师参考实现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900000" y="5300000"/>
            <a:ext cx="86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44546A"/>
                </a:solidFill>
                <a:latin typeface="微软雅黑"/>
              </a:rPr>
              <a:t>——用你自己的话, 向同桌复述一遍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31 / 103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知识应用（1）：RAG三步：知识切分向量检索引用生成</a:t>
            </a:r>
          </a:p>
        </p:txBody>
      </p:sp>
      <p:sp>
        <p:nvSpPr>
          <p:cNvPr id="7" name="Rectangle 6"/>
          <p:cNvSpPr/>
          <p:nvPr/>
        </p:nvSpPr>
        <p:spPr>
          <a:xfrm>
            <a:off x="760000" y="1750000"/>
            <a:ext cx="10900000" cy="9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00000" y="1900000"/>
            <a:ext cx="10300000" cy="6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微软雅黑"/>
              </a:rPr>
              <a:t>◆ 两江智造应用场景</a:t>
            </a:r>
          </a:p>
        </p:txBody>
      </p:sp>
      <p:sp>
        <p:nvSpPr>
          <p:cNvPr id="9" name="Rectangle 8"/>
          <p:cNvSpPr/>
          <p:nvPr/>
        </p:nvSpPr>
        <p:spPr>
          <a:xfrm>
            <a:off x="760000" y="2780000"/>
            <a:ext cx="10900000" cy="175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00000" y="2920000"/>
            <a:ext cx="10300000" cy="1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5000"/>
              </a:lnSpc>
              <a:spcAft>
                <a:spcPts val="600"/>
              </a:spcAft>
            </a:pPr>
            <a:r>
              <a:rPr sz="1350" b="0">
                <a:solidFill>
                  <a:srgbClr val="010328"/>
                </a:solidFill>
                <a:latin typeface="微软雅黑"/>
              </a:rPr>
              <a:t>RAG三步：知识切分向量检索引用生成。在两江智造产线上的用法：见工单starter与教师参考实现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32 / 103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基础知识 B02</a:t>
            </a:r>
          </a:p>
        </p:txBody>
      </p:sp>
      <p:sp>
        <p:nvSpPr>
          <p:cNvPr id="5" name="Rectangle 4"/>
          <p:cNvSpPr/>
          <p:nvPr/>
        </p:nvSpPr>
        <p:spPr>
          <a:xfrm>
            <a:off x="1400000" y="2300000"/>
            <a:ext cx="9400000" cy="26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400000" y="2300000"/>
            <a:ext cx="200000" cy="260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00000" y="1250000"/>
            <a:ext cx="18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3000" b="1">
                <a:solidFill>
                  <a:srgbClr val="F5670F"/>
                </a:solidFill>
                <a:latin typeface="微软雅黑"/>
              </a:rPr>
              <a:t>B02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900000" y="2900000"/>
            <a:ext cx="8600000" cy="1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2000" b="1">
                <a:solidFill>
                  <a:srgbClr val="010328"/>
                </a:solidFill>
                <a:latin typeface="微软雅黑"/>
              </a:rPr>
              <a:t>切分粒度：太碎丢上下文太整检索糊，先按条目——应用：见工单starter与教师参考实现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900000" y="5300000"/>
            <a:ext cx="86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44546A"/>
                </a:solidFill>
                <a:latin typeface="微软雅黑"/>
              </a:rPr>
              <a:t>——用你自己的话, 向同桌复述一遍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33 / 103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知识应用（2）：切分粒度：太碎丢上下文太整检索糊，先按条目</a:t>
            </a:r>
          </a:p>
        </p:txBody>
      </p:sp>
      <p:sp>
        <p:nvSpPr>
          <p:cNvPr id="7" name="Rectangle 6"/>
          <p:cNvSpPr/>
          <p:nvPr/>
        </p:nvSpPr>
        <p:spPr>
          <a:xfrm>
            <a:off x="760000" y="1750000"/>
            <a:ext cx="10900000" cy="9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00000" y="1900000"/>
            <a:ext cx="10300000" cy="6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微软雅黑"/>
              </a:rPr>
              <a:t>◆ 两江智造应用场景</a:t>
            </a:r>
          </a:p>
        </p:txBody>
      </p:sp>
      <p:sp>
        <p:nvSpPr>
          <p:cNvPr id="9" name="Rectangle 8"/>
          <p:cNvSpPr/>
          <p:nvPr/>
        </p:nvSpPr>
        <p:spPr>
          <a:xfrm>
            <a:off x="760000" y="2780000"/>
            <a:ext cx="10900000" cy="175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00000" y="2920000"/>
            <a:ext cx="10300000" cy="1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5000"/>
              </a:lnSpc>
              <a:spcAft>
                <a:spcPts val="600"/>
              </a:spcAft>
            </a:pPr>
            <a:r>
              <a:rPr sz="1350" b="0">
                <a:solidFill>
                  <a:srgbClr val="010328"/>
                </a:solidFill>
                <a:latin typeface="微软雅黑"/>
              </a:rPr>
              <a:t>切分粒度：太碎丢上下文太整检索糊，先按条目。在两江智造产线上的用法：见工单starter与教师参考实现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34 / 103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基础知识 B03</a:t>
            </a:r>
          </a:p>
        </p:txBody>
      </p:sp>
      <p:sp>
        <p:nvSpPr>
          <p:cNvPr id="5" name="Rectangle 4"/>
          <p:cNvSpPr/>
          <p:nvPr/>
        </p:nvSpPr>
        <p:spPr>
          <a:xfrm>
            <a:off x="1400000" y="2300000"/>
            <a:ext cx="9400000" cy="26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400000" y="2300000"/>
            <a:ext cx="200000" cy="260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00000" y="1250000"/>
            <a:ext cx="18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3000" b="1">
                <a:solidFill>
                  <a:srgbClr val="F5670F"/>
                </a:solidFill>
                <a:latin typeface="微软雅黑"/>
              </a:rPr>
              <a:t>B03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900000" y="2900000"/>
            <a:ext cx="8600000" cy="1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2000" b="1">
                <a:solidFill>
                  <a:srgbClr val="010328"/>
                </a:solidFill>
                <a:latin typeface="微软雅黑"/>
              </a:rPr>
              <a:t>检索双解：重合度打分(教学直观)→Chroma向量库(工程实现，见01包rag_chroma_demo)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900000" y="5300000"/>
            <a:ext cx="86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44546A"/>
                </a:solidFill>
                <a:latin typeface="微软雅黑"/>
              </a:rPr>
              <a:t>——用你自己的话, 向同桌复述一遍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35 / 103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基础知识 B04</a:t>
            </a:r>
          </a:p>
        </p:txBody>
      </p:sp>
      <p:sp>
        <p:nvSpPr>
          <p:cNvPr id="5" name="Rectangle 4"/>
          <p:cNvSpPr/>
          <p:nvPr/>
        </p:nvSpPr>
        <p:spPr>
          <a:xfrm>
            <a:off x="1400000" y="2300000"/>
            <a:ext cx="9400000" cy="26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400000" y="2300000"/>
            <a:ext cx="200000" cy="260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00000" y="1250000"/>
            <a:ext cx="18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3000" b="1">
                <a:solidFill>
                  <a:srgbClr val="F5670F"/>
                </a:solidFill>
                <a:latin typeface="微软雅黑"/>
              </a:rPr>
              <a:t>B04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900000" y="2900000"/>
            <a:ext cx="8600000" cy="1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2000" b="1">
                <a:solidFill>
                  <a:srgbClr val="010328"/>
                </a:solidFill>
                <a:latin typeface="微软雅黑"/>
              </a:rPr>
              <a:t>引用标注：每条建议挂条目ID可点开溯源——应用：见工单starter与教师参考实现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900000" y="5300000"/>
            <a:ext cx="86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44546A"/>
                </a:solidFill>
                <a:latin typeface="微软雅黑"/>
              </a:rPr>
              <a:t>——用你自己的话, 向同桌复述一遍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36 / 103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知识应用（4）：引用标注：每条建议挂条目ID可点开溯源</a:t>
            </a:r>
          </a:p>
        </p:txBody>
      </p:sp>
      <p:sp>
        <p:nvSpPr>
          <p:cNvPr id="7" name="Rectangle 6"/>
          <p:cNvSpPr/>
          <p:nvPr/>
        </p:nvSpPr>
        <p:spPr>
          <a:xfrm>
            <a:off x="760000" y="1750000"/>
            <a:ext cx="10900000" cy="9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00000" y="1900000"/>
            <a:ext cx="10300000" cy="6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微软雅黑"/>
              </a:rPr>
              <a:t>◆ 两江智造应用场景</a:t>
            </a:r>
          </a:p>
        </p:txBody>
      </p:sp>
      <p:sp>
        <p:nvSpPr>
          <p:cNvPr id="9" name="Rectangle 8"/>
          <p:cNvSpPr/>
          <p:nvPr/>
        </p:nvSpPr>
        <p:spPr>
          <a:xfrm>
            <a:off x="760000" y="2780000"/>
            <a:ext cx="10900000" cy="175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00000" y="2920000"/>
            <a:ext cx="10300000" cy="1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5000"/>
              </a:lnSpc>
              <a:spcAft>
                <a:spcPts val="600"/>
              </a:spcAft>
            </a:pPr>
            <a:r>
              <a:rPr sz="1350" b="0">
                <a:solidFill>
                  <a:srgbClr val="010328"/>
                </a:solidFill>
                <a:latin typeface="微软雅黑"/>
              </a:rPr>
              <a:t>引用标注：每条建议挂条目ID可点开溯源。在两江智造产线上的用法：见工单starter与教师参考实现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37 / 103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基础知识 B05</a:t>
            </a:r>
          </a:p>
        </p:txBody>
      </p:sp>
      <p:sp>
        <p:nvSpPr>
          <p:cNvPr id="5" name="Rectangle 4"/>
          <p:cNvSpPr/>
          <p:nvPr/>
        </p:nvSpPr>
        <p:spPr>
          <a:xfrm>
            <a:off x="1400000" y="2300000"/>
            <a:ext cx="9400000" cy="26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400000" y="2300000"/>
            <a:ext cx="200000" cy="260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00000" y="1250000"/>
            <a:ext cx="18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3000" b="1">
                <a:solidFill>
                  <a:srgbClr val="F5670F"/>
                </a:solidFill>
                <a:latin typeface="微软雅黑"/>
              </a:rPr>
              <a:t>B05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900000" y="2900000"/>
            <a:ext cx="8600000" cy="1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2000" b="1">
                <a:solidFill>
                  <a:srgbClr val="010328"/>
                </a:solidFill>
                <a:latin typeface="微软雅黑"/>
              </a:rPr>
              <a:t>幻觉治理：检索为空时宁说查无依据不硬编——应用：见工单starter与教师参考实现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900000" y="5300000"/>
            <a:ext cx="86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44546A"/>
                </a:solidFill>
                <a:latin typeface="微软雅黑"/>
              </a:rPr>
              <a:t>——用你自己的话, 向同桌复述一遍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38 / 103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知识应用（5）：幻觉治理：检索为空时宁说查无依据不硬编</a:t>
            </a:r>
          </a:p>
        </p:txBody>
      </p:sp>
      <p:sp>
        <p:nvSpPr>
          <p:cNvPr id="7" name="Rectangle 6"/>
          <p:cNvSpPr/>
          <p:nvPr/>
        </p:nvSpPr>
        <p:spPr>
          <a:xfrm>
            <a:off x="760000" y="1750000"/>
            <a:ext cx="10900000" cy="9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00000" y="1900000"/>
            <a:ext cx="10300000" cy="6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微软雅黑"/>
              </a:rPr>
              <a:t>◆ 两江智造应用场景</a:t>
            </a:r>
          </a:p>
        </p:txBody>
      </p:sp>
      <p:sp>
        <p:nvSpPr>
          <p:cNvPr id="9" name="Rectangle 8"/>
          <p:cNvSpPr/>
          <p:nvPr/>
        </p:nvSpPr>
        <p:spPr>
          <a:xfrm>
            <a:off x="760000" y="2780000"/>
            <a:ext cx="10900000" cy="175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00000" y="2920000"/>
            <a:ext cx="10300000" cy="1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5000"/>
              </a:lnSpc>
              <a:spcAft>
                <a:spcPts val="600"/>
              </a:spcAft>
            </a:pPr>
            <a:r>
              <a:rPr sz="1350" b="0">
                <a:solidFill>
                  <a:srgbClr val="010328"/>
                </a:solidFill>
                <a:latin typeface="微软雅黑"/>
              </a:rPr>
              <a:t>幻觉治理：检索为空时宁说查无依据不硬编。在两江智造产线上的用法：见工单starter与教师参考实现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39 / 103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基础知识 B06</a:t>
            </a:r>
          </a:p>
        </p:txBody>
      </p:sp>
      <p:sp>
        <p:nvSpPr>
          <p:cNvPr id="5" name="Rectangle 4"/>
          <p:cNvSpPr/>
          <p:nvPr/>
        </p:nvSpPr>
        <p:spPr>
          <a:xfrm>
            <a:off x="1400000" y="2300000"/>
            <a:ext cx="9400000" cy="26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400000" y="2300000"/>
            <a:ext cx="200000" cy="260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00000" y="1250000"/>
            <a:ext cx="18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3000" b="1">
                <a:solidFill>
                  <a:srgbClr val="F5670F"/>
                </a:solidFill>
                <a:latin typeface="微软雅黑"/>
              </a:rPr>
              <a:t>B06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900000" y="2900000"/>
            <a:ext cx="8600000" cy="1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2000" b="1">
                <a:solidFill>
                  <a:srgbClr val="010328"/>
                </a:solidFill>
                <a:latin typeface="微软雅黑"/>
              </a:rPr>
              <a:t>评测口径：检索准确率与生成质量分开评——应用：见工单starter与教师参考实现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900000" y="5300000"/>
            <a:ext cx="86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44546A"/>
                </a:solidFill>
                <a:latin typeface="微软雅黑"/>
              </a:rPr>
              <a:t>——用你自己的话, 向同桌复述一遍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40 / 103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知识应用（6）：评测口径：检索准确率与生成质量分开评</a:t>
            </a:r>
          </a:p>
        </p:txBody>
      </p:sp>
      <p:sp>
        <p:nvSpPr>
          <p:cNvPr id="7" name="Rectangle 6"/>
          <p:cNvSpPr/>
          <p:nvPr/>
        </p:nvSpPr>
        <p:spPr>
          <a:xfrm>
            <a:off x="760000" y="1750000"/>
            <a:ext cx="10900000" cy="9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00000" y="1900000"/>
            <a:ext cx="10300000" cy="6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微软雅黑"/>
              </a:rPr>
              <a:t>◆ 两江智造应用场景</a:t>
            </a:r>
          </a:p>
        </p:txBody>
      </p:sp>
      <p:sp>
        <p:nvSpPr>
          <p:cNvPr id="9" name="Rectangle 8"/>
          <p:cNvSpPr/>
          <p:nvPr/>
        </p:nvSpPr>
        <p:spPr>
          <a:xfrm>
            <a:off x="760000" y="2780000"/>
            <a:ext cx="10900000" cy="175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00000" y="2920000"/>
            <a:ext cx="10300000" cy="1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5000"/>
              </a:lnSpc>
              <a:spcAft>
                <a:spcPts val="600"/>
              </a:spcAft>
            </a:pPr>
            <a:r>
              <a:rPr sz="1350" b="0">
                <a:solidFill>
                  <a:srgbClr val="010328"/>
                </a:solidFill>
                <a:latin typeface="微软雅黑"/>
              </a:rPr>
              <a:t>评测口径：检索准确率与生成质量分开评。在两江智造产线上的用法：见工单starter与教师参考实现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41 / 103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知识快闪：60秒复述以下要点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00000" y="1800000"/>
            <a:ext cx="108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5670F"/>
                </a:solidFill>
                <a:latin typeface="微软雅黑"/>
              </a:rPr>
              <a:t>1. </a:t>
            </a:r>
            <a:r>
              <a:rPr sz="1500" b="0">
                <a:solidFill>
                  <a:srgbClr val="010328"/>
                </a:solidFill>
                <a:latin typeface="微软雅黑"/>
              </a:rPr>
              <a:t>RAG三步：知识切分向量检索引用生成——应用：见工单starter与教师参考实现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00000" y="2560000"/>
            <a:ext cx="108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5670F"/>
                </a:solidFill>
                <a:latin typeface="微软雅黑"/>
              </a:rPr>
              <a:t>2. </a:t>
            </a:r>
            <a:r>
              <a:rPr sz="1500" b="0">
                <a:solidFill>
                  <a:srgbClr val="010328"/>
                </a:solidFill>
                <a:latin typeface="微软雅黑"/>
              </a:rPr>
              <a:t>切分粒度：太碎丢上下文太整检索糊，先按条目——应用：见工单starter与教师参考实现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00000" y="3320000"/>
            <a:ext cx="108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5670F"/>
                </a:solidFill>
                <a:latin typeface="微软雅黑"/>
              </a:rPr>
              <a:t>3. </a:t>
            </a:r>
            <a:r>
              <a:rPr sz="1500" b="0">
                <a:solidFill>
                  <a:srgbClr val="010328"/>
                </a:solidFill>
                <a:latin typeface="微软雅黑"/>
              </a:rPr>
              <a:t>检索双解：重合度打分(教学直观)→Chroma向量库(工程实现，见01包rag_chroma_demo)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00000" y="4080000"/>
            <a:ext cx="108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5670F"/>
                </a:solidFill>
                <a:latin typeface="微软雅黑"/>
              </a:rPr>
              <a:t>4. </a:t>
            </a:r>
            <a:r>
              <a:rPr sz="1500" b="0">
                <a:solidFill>
                  <a:srgbClr val="010328"/>
                </a:solidFill>
                <a:latin typeface="微软雅黑"/>
              </a:rPr>
              <a:t>引用标注：每条建议挂条目ID可点开溯源——应用：见工单starter与教师参考实现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00000" y="4840000"/>
            <a:ext cx="108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5670F"/>
                </a:solidFill>
                <a:latin typeface="微软雅黑"/>
              </a:rPr>
              <a:t>5. </a:t>
            </a:r>
            <a:r>
              <a:rPr sz="1500" b="0">
                <a:solidFill>
                  <a:srgbClr val="010328"/>
                </a:solidFill>
                <a:latin typeface="微软雅黑"/>
              </a:rPr>
              <a:t>幻觉治理：检索为空时宁说查无依据不硬编——应用：见工单starter与教师参考实现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00000" y="5600000"/>
            <a:ext cx="108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5670F"/>
                </a:solidFill>
                <a:latin typeface="微软雅黑"/>
              </a:rPr>
              <a:t>6. </a:t>
            </a:r>
            <a:r>
              <a:rPr sz="1500" b="0">
                <a:solidFill>
                  <a:srgbClr val="010328"/>
                </a:solidFill>
                <a:latin typeface="微软雅黑"/>
              </a:rPr>
              <a:t>评测口径：检索准确率与生成质量分开评——应用：见工单starter与教师参考实现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00000" y="6480000"/>
            <a:ext cx="10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0475B6"/>
                </a:solidFill>
                <a:latin typeface="微软雅黑"/>
              </a:rPr>
              <a:t>同桌互述 → 抽2人全班复述（费曼：能讲清才算懂）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42 / 103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深化理解：逐条讲透（A层费曼素材）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7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要点1：RAG三步：知识切分向量检索引用生成——应用：见工单starter与教师参考实现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31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990000"/>
            <a:ext cx="10200000" cy="7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要点2：切分粒度：太碎丢上下文太整检索糊，先按条目——应用：见工单starter与教师参考实现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404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930000"/>
            <a:ext cx="10200000" cy="7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要点3：检索双解：重合度打分(教学直观)→Chroma向量库(工程实现，见01包rag_chroma_demo)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98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87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学法：A层用自己的话讲给D层听——讲得清才是真懂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43 / 103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技能点：做完你应该会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800000"/>
            <a:ext cx="10900000" cy="1000000"/>
          </a:xfrm>
          <a:prstGeom prst="rect">
            <a:avLst/>
          </a:prstGeom>
          <a:solidFill>
            <a:srgbClr val="FFFFFF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20000" y="2000000"/>
            <a:ext cx="600000" cy="6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0000" y="2050000"/>
            <a:ext cx="6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FFFFF"/>
                </a:solidFill>
                <a:latin typeface="微软雅黑"/>
              </a:rPr>
              <a:t>S1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650000" y="2060000"/>
            <a:ext cx="98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能搭建最小RAG问答链路——应用：见工单starter与教师参考实现</a:t>
            </a:r>
          </a:p>
        </p:txBody>
      </p:sp>
      <p:sp>
        <p:nvSpPr>
          <p:cNvPr id="9" name="Rectangle 8"/>
          <p:cNvSpPr/>
          <p:nvPr/>
        </p:nvSpPr>
        <p:spPr>
          <a:xfrm>
            <a:off x="760000" y="2930000"/>
            <a:ext cx="10900000" cy="1000000"/>
          </a:xfrm>
          <a:prstGeom prst="rect">
            <a:avLst/>
          </a:prstGeom>
          <a:solidFill>
            <a:srgbClr val="FFFFFF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820000" y="3130000"/>
            <a:ext cx="600000" cy="6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0000" y="3180000"/>
            <a:ext cx="6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FFFFF"/>
                </a:solidFill>
                <a:latin typeface="微软雅黑"/>
              </a:rPr>
              <a:t>S2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650000" y="3190000"/>
            <a:ext cx="98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能调top-k与相关度阈值——应用：见工单starter与教师参考实现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60000" y="4060000"/>
            <a:ext cx="10900000" cy="1000000"/>
          </a:xfrm>
          <a:prstGeom prst="rect">
            <a:avLst/>
          </a:prstGeom>
          <a:solidFill>
            <a:srgbClr val="FFFFFF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20000" y="4260000"/>
            <a:ext cx="600000" cy="6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0000" y="4310000"/>
            <a:ext cx="6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FFFFF"/>
                </a:solidFill>
                <a:latin typeface="微软雅黑"/>
              </a:rPr>
              <a:t>S3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650000" y="4320000"/>
            <a:ext cx="98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能输出带引用的回答——应用：见工单starter与教师参考实现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60000" y="5190000"/>
            <a:ext cx="10900000" cy="1000000"/>
          </a:xfrm>
          <a:prstGeom prst="rect">
            <a:avLst/>
          </a:prstGeom>
          <a:solidFill>
            <a:srgbClr val="FFFFFF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20000" y="5390000"/>
            <a:ext cx="600000" cy="6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20000" y="5440000"/>
            <a:ext cx="6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FFFFF"/>
                </a:solidFill>
                <a:latin typeface="微软雅黑"/>
              </a:rPr>
              <a:t>S4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650000" y="5450000"/>
            <a:ext cx="98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能做有无RAG对比评测——应用：见工单starter与教师参考实现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44 / 103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技能点 → 工单步骤 → 得分点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7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技能1：能搭建最小RAG问答链路——应用：见工单starter与教师参考实现 → 对应工单步骤，占功能分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31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990000"/>
            <a:ext cx="10200000" cy="7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技能2：能调top-k与相关度阈值——应用：见工单starter与教师参考实现 → 对应工单步骤，占功能分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404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930000"/>
            <a:ext cx="10200000" cy="7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技能3：能输出带引用的回答——应用：见工单starter与教师参考实现 → 对应工单步骤，占功能分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98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870000"/>
            <a:ext cx="10200000" cy="7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技能4：能做有无RAG对比评测——应用：见工单starter与教师参考实现 → 对应工单步骤，占功能分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0000" y="592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100000" y="581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提示：技能点全部来自工单评分点——练技能=挣分数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45 / 103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RAG知识库问答（上）：基础实现（实施要点）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· 回顾预习卡与微课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284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73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· 知识精讲（先例后理）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352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41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· 演示代码骨架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2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09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· 基础实现（D/C层保底）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0000" y="488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100000" y="477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· 小结+布置第2次课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46 / 103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关键代码：教学版检索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750000"/>
            <a:ext cx="10900000" cy="4600000"/>
          </a:xfrm>
          <a:prstGeom prst="rect">
            <a:avLst/>
          </a:prstGeom>
          <a:solidFill>
            <a:srgbClr val="0D11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750000"/>
            <a:ext cx="1090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0000" y="2000000"/>
            <a:ext cx="10300000" cy="42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250" b="0">
                <a:solidFill>
                  <a:srgbClr val="D6DEF6"/>
                </a:solidFill>
                <a:latin typeface="微软雅黑"/>
              </a:rPr>
              <a:t>def retrieve(q, k=3):</a:t>
            </a:r>
          </a:p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250" b="0">
                <a:solidFill>
                  <a:srgbClr val="D6DEF6"/>
                </a:solidFill>
                <a:latin typeface="微软雅黑"/>
              </a:rPr>
              <a:t>    sims = [(cosine(q_vec, d_vec), doc) for doc, d_vec in ZIP]</a:t>
            </a:r>
          </a:p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250" b="0">
                <a:solidFill>
                  <a:srgbClr val="D6DEF6"/>
                </a:solidFill>
                <a:latin typeface="微软雅黑"/>
              </a:rPr>
              <a:t>    return sorted(sims, reverse=True)[:k]</a:t>
            </a:r>
          </a:p>
        </p:txBody>
      </p:sp>
      <p:sp>
        <p:nvSpPr>
          <p:cNvPr id="8" name="Rectangle 7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47 / 103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17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代码走读：《教学版检索》逐段拆解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行1：def retrieve(q, k=3):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284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730000"/>
            <a:ext cx="10200000" cy="7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行2：sims = [(cosine(q_vec, d_vec), doc) for doc, d_vec i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378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670000"/>
            <a:ext cx="10200000" cy="7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行3：return sorted(sims, reverse=True)[:k]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72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61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读法：先看每行的输出→再问'为什么这么写'→最后改参数看变化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48 / 103</a:t>
            </a: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关键代码：引用生成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750000"/>
            <a:ext cx="10900000" cy="4600000"/>
          </a:xfrm>
          <a:prstGeom prst="rect">
            <a:avLst/>
          </a:prstGeom>
          <a:solidFill>
            <a:srgbClr val="0D11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750000"/>
            <a:ext cx="1090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0000" y="2000000"/>
            <a:ext cx="10300000" cy="42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250" b="0">
                <a:solidFill>
                  <a:srgbClr val="D6DEF6"/>
                </a:solidFill>
                <a:latin typeface="微软雅黑"/>
              </a:rPr>
              <a:t>ctx = "\n".join(f"[{i}] {d}" for i, (s, d) in enumerate(hits))</a:t>
            </a:r>
          </a:p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250" b="0">
                <a:solidFill>
                  <a:srgbClr val="D6DEF6"/>
                </a:solidFill>
                <a:latin typeface="微软雅黑"/>
              </a:rPr>
              <a:t>prompt = f"依据以下条目回答，标注[编号]:\n{ctx}\n问题: {q}"</a:t>
            </a:r>
          </a:p>
        </p:txBody>
      </p:sp>
      <p:sp>
        <p:nvSpPr>
          <p:cNvPr id="8" name="Rectangle 7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49 / 103</a:t>
            </a: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17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代码走读：《引用生成》逐段拆解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7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行1：ctx = "\n".join(f"[{i}] {d}" for i, (s, d) in enumer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31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990000"/>
            <a:ext cx="10200000" cy="7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行2：prompt = f"依据以下条目回答，标注[编号]:\n{ctx}\n问题: {q}"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404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93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读法：先看每行的输出→再问'为什么这么写'→最后改参数看变化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50 / 103</a:t>
            </a: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本次课六步法流程</a:t>
            </a:r>
          </a:p>
        </p:txBody>
      </p:sp>
      <p:sp>
        <p:nvSpPr>
          <p:cNvPr id="5" name="Rectangle 4"/>
          <p:cNvSpPr/>
          <p:nvPr/>
        </p:nvSpPr>
        <p:spPr>
          <a:xfrm>
            <a:off x="796000" y="2600000"/>
            <a:ext cx="1600000" cy="150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56000" y="2720000"/>
            <a:ext cx="1480000" cy="13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5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微软雅黑"/>
              </a:rPr>
              <a:t>决策：定方案·选模型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396000" y="3120000"/>
            <a:ext cx="2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800" b="1">
                <a:solidFill>
                  <a:srgbClr val="F5670F"/>
                </a:solidFill>
                <a:latin typeface="微软雅黑"/>
              </a:rPr>
              <a:t>→</a:t>
            </a:r>
          </a:p>
        </p:txBody>
      </p:sp>
      <p:sp>
        <p:nvSpPr>
          <p:cNvPr id="8" name="Rectangle 7"/>
          <p:cNvSpPr/>
          <p:nvPr/>
        </p:nvSpPr>
        <p:spPr>
          <a:xfrm>
            <a:off x="2596000" y="2600000"/>
            <a:ext cx="1600000" cy="15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656000" y="2720000"/>
            <a:ext cx="1480000" cy="13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5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微软雅黑"/>
              </a:rPr>
              <a:t>实施一：数据+建模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196000" y="3120000"/>
            <a:ext cx="2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800" b="1">
                <a:solidFill>
                  <a:srgbClr val="F5670F"/>
                </a:solidFill>
                <a:latin typeface="微软雅黑"/>
              </a:rPr>
              <a:t>→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396000" y="2600000"/>
            <a:ext cx="1600000" cy="15000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456000" y="2720000"/>
            <a:ext cx="1480000" cy="13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5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微软雅黑"/>
              </a:rPr>
              <a:t>检查：自检互查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96000" y="3120000"/>
            <a:ext cx="2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800" b="1">
                <a:solidFill>
                  <a:srgbClr val="F5670F"/>
                </a:solidFill>
                <a:latin typeface="微软雅黑"/>
              </a:rPr>
              <a:t>→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196000" y="2600000"/>
            <a:ext cx="1600000" cy="1500000"/>
          </a:xfrm>
          <a:prstGeom prst="rect">
            <a:avLst/>
          </a:prstGeom>
          <a:solidFill>
            <a:srgbClr val="4454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256000" y="2720000"/>
            <a:ext cx="1480000" cy="13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5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微软雅黑"/>
              </a:rPr>
              <a:t>实施二：调优+拓展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796000" y="3120000"/>
            <a:ext cx="2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800" b="1">
                <a:solidFill>
                  <a:srgbClr val="F5670F"/>
                </a:solidFill>
                <a:latin typeface="微软雅黑"/>
              </a:rPr>
              <a:t>→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996000" y="2600000"/>
            <a:ext cx="1600000" cy="150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056000" y="2720000"/>
            <a:ext cx="1480000" cy="13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5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微软雅黑"/>
              </a:rPr>
              <a:t>评价：当堂评分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596000" y="3120000"/>
            <a:ext cx="2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800" b="1">
                <a:solidFill>
                  <a:srgbClr val="F5670F"/>
                </a:solidFill>
                <a:latin typeface="微软雅黑"/>
              </a:rPr>
              <a:t>→</a:t>
            </a:r>
          </a:p>
        </p:txBody>
      </p:sp>
      <p:sp>
        <p:nvSpPr>
          <p:cNvPr id="20" name="Rectangle 19"/>
          <p:cNvSpPr/>
          <p:nvPr/>
        </p:nvSpPr>
        <p:spPr>
          <a:xfrm>
            <a:off x="9796000" y="2600000"/>
            <a:ext cx="1600000" cy="15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856000" y="2720000"/>
            <a:ext cx="1480000" cy="13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5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微软雅黑"/>
              </a:rPr>
              <a:t>课后：微课预习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60000" y="4600000"/>
            <a:ext cx="109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44546A"/>
                </a:solidFill>
                <a:latin typeface="微软雅黑"/>
              </a:rPr>
              <a:t>六步法课堂化——每次课都知道现在在哪一步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51 / 103</a:t>
            </a: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80分钟时间盒分配（分钟）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846000" y="4700000"/>
            <a:ext cx="1400000" cy="70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6000" y="4140000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10328"/>
                </a:solidFill>
                <a:latin typeface="微软雅黑"/>
              </a:rPr>
              <a:t>10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6000" y="5480000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44546A"/>
                </a:solidFill>
                <a:latin typeface="微软雅黑"/>
              </a:rPr>
              <a:t>决策</a:t>
            </a:r>
          </a:p>
        </p:txBody>
      </p:sp>
      <p:sp>
        <p:nvSpPr>
          <p:cNvPr id="8" name="Rectangle 7"/>
          <p:cNvSpPr/>
          <p:nvPr/>
        </p:nvSpPr>
        <p:spPr>
          <a:xfrm>
            <a:off x="2946000" y="2600000"/>
            <a:ext cx="1400000" cy="28000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746000" y="2040000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10328"/>
                </a:solidFill>
                <a:latin typeface="微软雅黑"/>
              </a:rPr>
              <a:t>40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746000" y="5480000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44546A"/>
                </a:solidFill>
                <a:latin typeface="微软雅黑"/>
              </a:rPr>
              <a:t>实施一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046000" y="4700000"/>
            <a:ext cx="14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846000" y="4140000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10328"/>
                </a:solidFill>
                <a:latin typeface="微软雅黑"/>
              </a:rPr>
              <a:t>10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846000" y="5480000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44546A"/>
                </a:solidFill>
                <a:latin typeface="微软雅黑"/>
              </a:rPr>
              <a:t>检查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146000" y="3300000"/>
            <a:ext cx="1400000" cy="2100000"/>
          </a:xfrm>
          <a:prstGeom prst="rect">
            <a:avLst/>
          </a:prstGeom>
          <a:solidFill>
            <a:srgbClr val="0175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946000" y="2740000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10328"/>
                </a:solidFill>
                <a:latin typeface="微软雅黑"/>
              </a:rPr>
              <a:t>30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946000" y="5480000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44546A"/>
                </a:solidFill>
                <a:latin typeface="微软雅黑"/>
              </a:rPr>
              <a:t>实施二</a:t>
            </a:r>
          </a:p>
        </p:txBody>
      </p:sp>
      <p:sp>
        <p:nvSpPr>
          <p:cNvPr id="17" name="Rectangle 16"/>
          <p:cNvSpPr/>
          <p:nvPr/>
        </p:nvSpPr>
        <p:spPr>
          <a:xfrm>
            <a:off x="9246000" y="4700000"/>
            <a:ext cx="1400000" cy="700000"/>
          </a:xfrm>
          <a:prstGeom prst="rect">
            <a:avLst/>
          </a:prstGeom>
          <a:solidFill>
            <a:srgbClr val="4454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046000" y="4140000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10328"/>
                </a:solidFill>
                <a:latin typeface="微软雅黑"/>
              </a:rPr>
              <a:t>10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046000" y="5480000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44546A"/>
                </a:solidFill>
                <a:latin typeface="微软雅黑"/>
              </a:rPr>
              <a:t>评价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400000" y="5400000"/>
            <a:ext cx="9400000" cy="3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60000" y="6100000"/>
            <a:ext cx="109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0475B6"/>
                </a:solidFill>
                <a:latin typeface="微软雅黑"/>
              </a:rPr>
              <a:t>评价环节不压缩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52 / 103</a:t>
            </a: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本课术语表（听不懂时查这里）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术语①：RAG三步——知识切分向量检索引用生成——应用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284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730000"/>
            <a:ext cx="10200000" cy="7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术语②：切分粒度：太碎丢上下文太整检索糊，先按条目——应用：见工单starter与教师参考实现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378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67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术语③：能搭建最小RAG问答链路——应用：见工单starter与教师参考实现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72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61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用法：教师说术语→学生查表——第一周建立'术语-含义'反射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53 / 103</a:t>
            </a: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000000" y="2650000"/>
            <a:ext cx="560000" cy="15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750000" y="2450000"/>
            <a:ext cx="9000000" cy="1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6600" b="1">
                <a:solidFill>
                  <a:srgbClr val="F5670F"/>
                </a:solidFill>
                <a:latin typeface="微软雅黑"/>
              </a:rPr>
              <a:t>05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3200" b="1">
                <a:solidFill>
                  <a:srgbClr val="FFFFFF"/>
                </a:solidFill>
                <a:latin typeface="微软雅黑"/>
              </a:rPr>
              <a:t>任务实施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750000" y="4600000"/>
            <a:ext cx="90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0">
                <a:solidFill>
                  <a:srgbClr val="BBC6E6"/>
                </a:solidFill>
                <a:latin typeface="微软雅黑"/>
              </a:rPr>
              <a:t>工单 · 分层 · 避坑</a:t>
            </a:r>
          </a:p>
        </p:txBody>
      </p:sp>
      <p:sp>
        <p:nvSpPr>
          <p:cNvPr id="6" name="Rectangle 5"/>
          <p:cNvSpPr/>
          <p:nvPr/>
        </p:nvSpPr>
        <p:spPr>
          <a:xfrm>
            <a:off x="810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3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01</a:t>
            </a:r>
          </a:p>
        </p:txBody>
      </p:sp>
      <p:sp>
        <p:nvSpPr>
          <p:cNvPr id="8" name="Rectangle 7"/>
          <p:cNvSpPr/>
          <p:nvPr/>
        </p:nvSpPr>
        <p:spPr>
          <a:xfrm>
            <a:off x="866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59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02</a:t>
            </a:r>
          </a:p>
        </p:txBody>
      </p:sp>
      <p:sp>
        <p:nvSpPr>
          <p:cNvPr id="10" name="Rectangle 9"/>
          <p:cNvSpPr/>
          <p:nvPr/>
        </p:nvSpPr>
        <p:spPr>
          <a:xfrm>
            <a:off x="922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5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03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78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71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04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0340000" y="5900000"/>
            <a:ext cx="230000" cy="230000"/>
          </a:xfrm>
          <a:prstGeom prst="rect">
            <a:avLst/>
          </a:prstGeom>
          <a:solidFill>
            <a:srgbClr val="F5670F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27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1">
                <a:solidFill>
                  <a:srgbClr val="F5670F"/>
                </a:solidFill>
                <a:latin typeface="微软雅黑"/>
              </a:rPr>
              <a:t>05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090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83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06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54 / 103</a:t>
            </a: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RAG知识库问答：备选方案决策矩阵</a:t>
            </a:r>
          </a:p>
        </p:txBody>
      </p:sp>
      <p:sp>
        <p:nvSpPr>
          <p:cNvPr id="5" name="Rectangle 4"/>
          <p:cNvSpPr/>
          <p:nvPr/>
        </p:nvSpPr>
        <p:spPr>
          <a:xfrm>
            <a:off x="800000" y="2000000"/>
            <a:ext cx="3400000" cy="7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00000" y="2120000"/>
            <a:ext cx="34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FFFFF"/>
                </a:solidFill>
                <a:latin typeface="微软雅黑"/>
              </a:rPr>
              <a:t>备选方案</a:t>
            </a:r>
          </a:p>
        </p:txBody>
      </p:sp>
      <p:sp>
        <p:nvSpPr>
          <p:cNvPr id="7" name="Rectangle 6"/>
          <p:cNvSpPr/>
          <p:nvPr/>
        </p:nvSpPr>
        <p:spPr>
          <a:xfrm>
            <a:off x="4200000" y="2000000"/>
            <a:ext cx="2400000" cy="7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200000" y="2120000"/>
            <a:ext cx="24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FFFFF"/>
                </a:solidFill>
                <a:latin typeface="微软雅黑"/>
              </a:rPr>
              <a:t>可行性</a:t>
            </a:r>
          </a:p>
        </p:txBody>
      </p:sp>
      <p:sp>
        <p:nvSpPr>
          <p:cNvPr id="9" name="Rectangle 8"/>
          <p:cNvSpPr/>
          <p:nvPr/>
        </p:nvSpPr>
        <p:spPr>
          <a:xfrm>
            <a:off x="6600000" y="2000000"/>
            <a:ext cx="2400000" cy="7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600000" y="2120000"/>
            <a:ext cx="24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FFFFF"/>
                </a:solidFill>
                <a:latin typeface="微软雅黑"/>
              </a:rPr>
              <a:t>达标概率</a:t>
            </a:r>
          </a:p>
        </p:txBody>
      </p:sp>
      <p:sp>
        <p:nvSpPr>
          <p:cNvPr id="11" name="Rectangle 10"/>
          <p:cNvSpPr/>
          <p:nvPr/>
        </p:nvSpPr>
        <p:spPr>
          <a:xfrm>
            <a:off x="9000000" y="2000000"/>
            <a:ext cx="2400000" cy="7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000000" y="2120000"/>
            <a:ext cx="24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FFFFF"/>
                </a:solidFill>
                <a:latin typeface="微软雅黑"/>
              </a:rPr>
              <a:t>工时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1400000" y="2000000"/>
            <a:ext cx="2400000" cy="7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400000" y="2120000"/>
            <a:ext cx="24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FFFFF"/>
                </a:solidFill>
                <a:latin typeface="微软雅黑"/>
              </a:rPr>
              <a:t>结论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00000" y="2700000"/>
            <a:ext cx="3400000" cy="62000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00000" y="2800000"/>
            <a:ext cx="3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010328"/>
                </a:solidFill>
                <a:latin typeface="微软雅黑"/>
              </a:rPr>
              <a:t>方案A：按工单主线（starter起步）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200000" y="2700000"/>
            <a:ext cx="2400000" cy="62000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200000" y="2800000"/>
            <a:ext cx="2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高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600000" y="2700000"/>
            <a:ext cx="2400000" cy="62000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600000" y="2800000"/>
            <a:ext cx="2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高</a:t>
            </a:r>
          </a:p>
        </p:txBody>
      </p:sp>
      <p:sp>
        <p:nvSpPr>
          <p:cNvPr id="21" name="Rectangle 20"/>
          <p:cNvSpPr/>
          <p:nvPr/>
        </p:nvSpPr>
        <p:spPr>
          <a:xfrm>
            <a:off x="9000000" y="2700000"/>
            <a:ext cx="2400000" cy="62000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000000" y="2800000"/>
            <a:ext cx="2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适中</a:t>
            </a:r>
          </a:p>
        </p:txBody>
      </p:sp>
      <p:sp>
        <p:nvSpPr>
          <p:cNvPr id="23" name="Rectangle 22"/>
          <p:cNvSpPr/>
          <p:nvPr/>
        </p:nvSpPr>
        <p:spPr>
          <a:xfrm>
            <a:off x="11400000" y="2700000"/>
            <a:ext cx="2400000" cy="62000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1400000" y="2800000"/>
            <a:ext cx="2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推荐主干</a:t>
            </a:r>
          </a:p>
        </p:txBody>
      </p:sp>
      <p:sp>
        <p:nvSpPr>
          <p:cNvPr id="25" name="Rectangle 24"/>
          <p:cNvSpPr/>
          <p:nvPr/>
        </p:nvSpPr>
        <p:spPr>
          <a:xfrm>
            <a:off x="800000" y="3320000"/>
            <a:ext cx="3400000" cy="620000"/>
          </a:xfrm>
          <a:prstGeom prst="rect">
            <a:avLst/>
          </a:prstGeom>
          <a:solidFill>
            <a:srgbClr val="FFFFFF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00000" y="3420000"/>
            <a:ext cx="3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010328"/>
                </a:solidFill>
                <a:latin typeface="微软雅黑"/>
              </a:rPr>
              <a:t>方案B：自选技术路线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200000" y="3320000"/>
            <a:ext cx="2400000" cy="620000"/>
          </a:xfrm>
          <a:prstGeom prst="rect">
            <a:avLst/>
          </a:prstGeom>
          <a:solidFill>
            <a:srgbClr val="FFFFFF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200000" y="3420000"/>
            <a:ext cx="2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中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600000" y="3320000"/>
            <a:ext cx="2400000" cy="620000"/>
          </a:xfrm>
          <a:prstGeom prst="rect">
            <a:avLst/>
          </a:prstGeom>
          <a:solidFill>
            <a:srgbClr val="FFFFFF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600000" y="3420000"/>
            <a:ext cx="2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中</a:t>
            </a:r>
          </a:p>
        </p:txBody>
      </p:sp>
      <p:sp>
        <p:nvSpPr>
          <p:cNvPr id="31" name="Rectangle 30"/>
          <p:cNvSpPr/>
          <p:nvPr/>
        </p:nvSpPr>
        <p:spPr>
          <a:xfrm>
            <a:off x="9000000" y="3320000"/>
            <a:ext cx="2400000" cy="620000"/>
          </a:xfrm>
          <a:prstGeom prst="rect">
            <a:avLst/>
          </a:prstGeom>
          <a:solidFill>
            <a:srgbClr val="FFFFFF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000000" y="3420000"/>
            <a:ext cx="2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多</a:t>
            </a:r>
          </a:p>
        </p:txBody>
      </p:sp>
      <p:sp>
        <p:nvSpPr>
          <p:cNvPr id="33" name="Rectangle 32"/>
          <p:cNvSpPr/>
          <p:nvPr/>
        </p:nvSpPr>
        <p:spPr>
          <a:xfrm>
            <a:off x="11400000" y="3320000"/>
            <a:ext cx="2400000" cy="620000"/>
          </a:xfrm>
          <a:prstGeom prst="rect">
            <a:avLst/>
          </a:prstGeom>
          <a:solidFill>
            <a:srgbClr val="FFFFFF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11400000" y="3420000"/>
            <a:ext cx="2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A层可选</a:t>
            </a:r>
          </a:p>
        </p:txBody>
      </p:sp>
      <p:sp>
        <p:nvSpPr>
          <p:cNvPr id="35" name="Rectangle 34"/>
          <p:cNvSpPr/>
          <p:nvPr/>
        </p:nvSpPr>
        <p:spPr>
          <a:xfrm>
            <a:off x="800000" y="3940000"/>
            <a:ext cx="3400000" cy="62000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800000" y="4040000"/>
            <a:ext cx="3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010328"/>
                </a:solidFill>
                <a:latin typeface="微软雅黑"/>
              </a:rPr>
              <a:t>方案C：直接改现成项目</a:t>
            </a:r>
          </a:p>
        </p:txBody>
      </p:sp>
      <p:sp>
        <p:nvSpPr>
          <p:cNvPr id="37" name="Rectangle 36"/>
          <p:cNvSpPr/>
          <p:nvPr/>
        </p:nvSpPr>
        <p:spPr>
          <a:xfrm>
            <a:off x="4200000" y="3940000"/>
            <a:ext cx="2400000" cy="62000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4200000" y="4040000"/>
            <a:ext cx="2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低（无过程分）</a:t>
            </a:r>
          </a:p>
        </p:txBody>
      </p:sp>
      <p:sp>
        <p:nvSpPr>
          <p:cNvPr id="39" name="Rectangle 38"/>
          <p:cNvSpPr/>
          <p:nvPr/>
        </p:nvSpPr>
        <p:spPr>
          <a:xfrm>
            <a:off x="6600000" y="3940000"/>
            <a:ext cx="2400000" cy="62000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600000" y="4040000"/>
            <a:ext cx="2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低</a:t>
            </a:r>
          </a:p>
        </p:txBody>
      </p:sp>
      <p:sp>
        <p:nvSpPr>
          <p:cNvPr id="41" name="Rectangle 40"/>
          <p:cNvSpPr/>
          <p:nvPr/>
        </p:nvSpPr>
        <p:spPr>
          <a:xfrm>
            <a:off x="9000000" y="3940000"/>
            <a:ext cx="2400000" cy="62000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9000000" y="4040000"/>
            <a:ext cx="2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少</a:t>
            </a:r>
          </a:p>
        </p:txBody>
      </p:sp>
      <p:sp>
        <p:nvSpPr>
          <p:cNvPr id="43" name="Rectangle 42"/>
          <p:cNvSpPr/>
          <p:nvPr/>
        </p:nvSpPr>
        <p:spPr>
          <a:xfrm>
            <a:off x="11400000" y="3940000"/>
            <a:ext cx="2400000" cy="62000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11400000" y="4040000"/>
            <a:ext cx="2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不建议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800000" y="4680000"/>
            <a:ext cx="10600000" cy="3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F5670F"/>
                </a:solidFill>
                <a:latin typeface="微软雅黑"/>
              </a:rPr>
              <a:t>组内打分3分钟，结论与理由写入工单决策记录</a:t>
            </a:r>
          </a:p>
        </p:txBody>
      </p:sp>
      <p:sp>
        <p:nvSpPr>
          <p:cNvPr id="46" name="Rectangle 45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55 / 103</a:t>
            </a: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23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决策怎么下：方案对比三问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本课决策题：RAG知识库问答：备选方案决策矩阵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284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73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问①可行吗——每个方案的实现路径走得通吗（技术风险）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352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41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问②值吗——精度/耗时/可复现性三角权衡（工程账）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2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09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问③谁拍板——组内数据说话，理由写进工单（决策追责制）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0000" y="488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100000" y="477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规则：没有记录的决策=没有决策——写下来才算数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56 / 103</a:t>
            </a:r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实施任务：工单M4-2《RAG知识库问答（上）：基础实现》</a:t>
            </a:r>
          </a:p>
        </p:txBody>
      </p:sp>
      <p:sp>
        <p:nvSpPr>
          <p:cNvPr id="5" name="Rectangle 4"/>
          <p:cNvSpPr/>
          <p:nvPr/>
        </p:nvSpPr>
        <p:spPr>
          <a:xfrm>
            <a:off x="800000" y="1950000"/>
            <a:ext cx="6300000" cy="39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0000" y="2100000"/>
            <a:ext cx="5900000" cy="3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500" b="1">
                <a:solidFill>
                  <a:srgbClr val="0545E8"/>
                </a:solidFill>
                <a:latin typeface="微软雅黑"/>
              </a:rPr>
              <a:t>实施步骤</a:t>
            </a:r>
          </a:p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1. 回顾预习卡与微课</a:t>
            </a:r>
          </a:p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2. 知识精讲（先例后理）</a:t>
            </a:r>
          </a:p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3. 演示代码骨架</a:t>
            </a:r>
          </a:p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4. 基础实现（D/C层保底）</a:t>
            </a:r>
          </a:p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5. 小结+布置第2次课</a:t>
            </a:r>
          </a:p>
        </p:txBody>
      </p:sp>
      <p:sp>
        <p:nvSpPr>
          <p:cNvPr id="7" name="Rectangle 6"/>
          <p:cNvSpPr/>
          <p:nvPr/>
        </p:nvSpPr>
        <p:spPr>
          <a:xfrm>
            <a:off x="7400000" y="1950000"/>
            <a:ext cx="4000000" cy="1850000"/>
          </a:xfrm>
          <a:prstGeom prst="rect">
            <a:avLst/>
          </a:prstGeom>
          <a:solidFill>
            <a:srgbClr val="E8F1E8"/>
          </a:solidFill>
          <a:ln>
            <a:solidFill>
              <a:srgbClr val="0475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550000" y="2080000"/>
            <a:ext cx="3750000" cy="165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0475B6"/>
                </a:solidFill>
                <a:latin typeface="微软雅黑"/>
              </a:rPr>
              <a:t>及格标准（D）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检索≥80%+引用完整</a:t>
            </a:r>
          </a:p>
        </p:txBody>
      </p:sp>
      <p:sp>
        <p:nvSpPr>
          <p:cNvPr id="9" name="Rectangle 8"/>
          <p:cNvSpPr/>
          <p:nvPr/>
        </p:nvSpPr>
        <p:spPr>
          <a:xfrm>
            <a:off x="7400000" y="3950000"/>
            <a:ext cx="4000000" cy="1850000"/>
          </a:xfrm>
          <a:prstGeom prst="rect">
            <a:avLst/>
          </a:prstGeom>
          <a:solidFill>
            <a:srgbClr val="FDF0E6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550000" y="4080000"/>
            <a:ext cx="3750000" cy="165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5670F"/>
                </a:solidFill>
                <a:latin typeface="微软雅黑"/>
              </a:rPr>
              <a:t>优秀标准（B+）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检索≥90%+生成质量优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57 / 103</a:t>
            </a:r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分层工单 · D 层任务卡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750000"/>
            <a:ext cx="3200000" cy="900000"/>
          </a:xfrm>
          <a:prstGeom prst="rect">
            <a:avLst/>
          </a:prstGeom>
          <a:solidFill>
            <a:srgbClr val="4454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60000" y="1900000"/>
            <a:ext cx="32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700" b="1">
                <a:solidFill>
                  <a:srgbClr val="FFFFFF"/>
                </a:solidFill>
                <a:latin typeface="微软雅黑"/>
              </a:rPr>
              <a:t>学徒 · 跟做保底层</a:t>
            </a:r>
          </a:p>
        </p:txBody>
      </p:sp>
      <p:sp>
        <p:nvSpPr>
          <p:cNvPr id="7" name="Rectangle 6"/>
          <p:cNvSpPr/>
          <p:nvPr/>
        </p:nvSpPr>
        <p:spPr>
          <a:xfrm>
            <a:off x="4300000" y="1750000"/>
            <a:ext cx="7300000" cy="9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480000" y="1830000"/>
            <a:ext cx="7000000" cy="7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350" b="1">
                <a:solidFill>
                  <a:srgbClr val="010328"/>
                </a:solidFill>
                <a:latin typeface="微软雅黑"/>
              </a:rPr>
              <a:t>目标: 无RAG基线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2890000"/>
            <a:ext cx="620000" cy="620000"/>
          </a:xfrm>
          <a:prstGeom prst="rect">
            <a:avLst/>
          </a:prstGeom>
          <a:solidFill>
            <a:srgbClr val="4454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0000" y="2950000"/>
            <a:ext cx="62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20000" y="2920000"/>
            <a:ext cx="10000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直接问LLM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20000" y="3780000"/>
            <a:ext cx="620000" cy="620000"/>
          </a:xfrm>
          <a:prstGeom prst="rect">
            <a:avLst/>
          </a:prstGeom>
          <a:solidFill>
            <a:srgbClr val="4454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0000" y="3840000"/>
            <a:ext cx="62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620000" y="3810000"/>
            <a:ext cx="10000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记录幻觉例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0000" y="4670000"/>
            <a:ext cx="620000" cy="620000"/>
          </a:xfrm>
          <a:prstGeom prst="rect">
            <a:avLst/>
          </a:prstGeom>
          <a:solidFill>
            <a:srgbClr val="4454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0000" y="4730000"/>
            <a:ext cx="62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620000" y="4700000"/>
            <a:ext cx="10000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留证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60000" y="5620000"/>
            <a:ext cx="10900000" cy="820000"/>
          </a:xfrm>
          <a:prstGeom prst="rect">
            <a:avLst/>
          </a:prstGeom>
          <a:solidFill>
            <a:srgbClr val="E8F1E8"/>
          </a:solidFill>
          <a:ln>
            <a:solidFill>
              <a:srgbClr val="44546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40000" y="5720000"/>
            <a:ext cx="105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50" b="1">
                <a:solidFill>
                  <a:srgbClr val="010328"/>
                </a:solidFill>
                <a:latin typeface="微软雅黑"/>
              </a:rPr>
              <a:t>✔ 达标标准: 幻觉案例≥2条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58 / 103</a:t>
            </a:r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D层·学徒：步骤怎么走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第1步：直接问LLM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284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73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第2步：记录幻觉例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352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41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第3步：留证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2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09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达标自检：幻觉案例≥2条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59 / 103</a:t>
            </a:r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分层工单 · C 层任务卡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750000"/>
            <a:ext cx="3200000" cy="9000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60000" y="1900000"/>
            <a:ext cx="32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700" b="1">
                <a:solidFill>
                  <a:srgbClr val="FFFFFF"/>
                </a:solidFill>
                <a:latin typeface="微软雅黑"/>
              </a:rPr>
              <a:t>操作员 · 基础完成层</a:t>
            </a:r>
          </a:p>
        </p:txBody>
      </p:sp>
      <p:sp>
        <p:nvSpPr>
          <p:cNvPr id="7" name="Rectangle 6"/>
          <p:cNvSpPr/>
          <p:nvPr/>
        </p:nvSpPr>
        <p:spPr>
          <a:xfrm>
            <a:off x="4300000" y="1750000"/>
            <a:ext cx="7300000" cy="9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480000" y="1830000"/>
            <a:ext cx="7000000" cy="7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350" b="1">
                <a:solidFill>
                  <a:srgbClr val="010328"/>
                </a:solidFill>
                <a:latin typeface="微软雅黑"/>
              </a:rPr>
              <a:t>目标: 链路跑通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2890000"/>
            <a:ext cx="620000" cy="6200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0000" y="2950000"/>
            <a:ext cx="62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20000" y="2920000"/>
            <a:ext cx="10000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知识切分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20000" y="3780000"/>
            <a:ext cx="620000" cy="6200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0000" y="3840000"/>
            <a:ext cx="62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620000" y="3810000"/>
            <a:ext cx="10000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检索top3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0000" y="4670000"/>
            <a:ext cx="620000" cy="6200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0000" y="4730000"/>
            <a:ext cx="62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620000" y="4700000"/>
            <a:ext cx="10000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拼Prompt生成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60000" y="5620000"/>
            <a:ext cx="10900000" cy="820000"/>
          </a:xfrm>
          <a:prstGeom prst="rect">
            <a:avLst/>
          </a:prstGeom>
          <a:solidFill>
            <a:srgbClr val="E8F1E8"/>
          </a:solidFill>
          <a:ln>
            <a:solidFill>
              <a:srgbClr val="0475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40000" y="5720000"/>
            <a:ext cx="105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50" b="1">
                <a:solidFill>
                  <a:srgbClr val="010328"/>
                </a:solidFill>
                <a:latin typeface="微软雅黑"/>
              </a:rPr>
              <a:t>✔ 达标标准: 检索≥80%有引用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60 / 103</a:t>
            </a:r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14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C层·操作员：步骤怎么走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第1步：知识切分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284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73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第2步：检索top3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352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41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第3步：拼Prompt生成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2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09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达标自检：检索≥80%有引用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61 / 103</a:t>
            </a:r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分层工单 · B 层任务卡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750000"/>
            <a:ext cx="3200000" cy="90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60000" y="1900000"/>
            <a:ext cx="32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700" b="1">
                <a:solidFill>
                  <a:srgbClr val="FFFFFF"/>
                </a:solidFill>
                <a:latin typeface="微软雅黑"/>
              </a:rPr>
              <a:t>组长 · 标准达成层</a:t>
            </a:r>
          </a:p>
        </p:txBody>
      </p:sp>
      <p:sp>
        <p:nvSpPr>
          <p:cNvPr id="7" name="Rectangle 6"/>
          <p:cNvSpPr/>
          <p:nvPr/>
        </p:nvSpPr>
        <p:spPr>
          <a:xfrm>
            <a:off x="4300000" y="1750000"/>
            <a:ext cx="7300000" cy="9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480000" y="1830000"/>
            <a:ext cx="7000000" cy="7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350" b="1">
                <a:solidFill>
                  <a:srgbClr val="010328"/>
                </a:solidFill>
                <a:latin typeface="微软雅黑"/>
              </a:rPr>
              <a:t>目标: 参数调优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2890000"/>
            <a:ext cx="620000" cy="62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0000" y="2950000"/>
            <a:ext cx="62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20000" y="2920000"/>
            <a:ext cx="10000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k对比3档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20000" y="3780000"/>
            <a:ext cx="620000" cy="62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0000" y="3840000"/>
            <a:ext cx="62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620000" y="3810000"/>
            <a:ext cx="10000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阈值过滤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0000" y="4670000"/>
            <a:ext cx="620000" cy="62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0000" y="4730000"/>
            <a:ext cx="62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620000" y="4700000"/>
            <a:ext cx="10000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评测表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60000" y="5620000"/>
            <a:ext cx="10900000" cy="820000"/>
          </a:xfrm>
          <a:prstGeom prst="rect">
            <a:avLst/>
          </a:prstGeom>
          <a:solidFill>
            <a:srgbClr val="FDF0E6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40000" y="5720000"/>
            <a:ext cx="105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50" b="1">
                <a:solidFill>
                  <a:srgbClr val="010328"/>
                </a:solidFill>
                <a:latin typeface="微软雅黑"/>
              </a:rPr>
              <a:t>✔ 达标标准: 检索≥85%可溯源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62 / 103</a:t>
            </a:r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15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B层·组长：步骤怎么走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第1步：k对比3档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284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73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第2步：阈值过滤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352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41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第3步：评测表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2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09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达标自检：检索≥85%可溯源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63 / 103</a:t>
            </a:r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分层工单 · A 层任务卡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750000"/>
            <a:ext cx="3200000" cy="9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60000" y="1900000"/>
            <a:ext cx="32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700" b="1">
                <a:solidFill>
                  <a:srgbClr val="FFFFFF"/>
                </a:solidFill>
                <a:latin typeface="微软雅黑"/>
              </a:rPr>
              <a:t>师傅 · 进阶拓展层</a:t>
            </a:r>
          </a:p>
        </p:txBody>
      </p:sp>
      <p:sp>
        <p:nvSpPr>
          <p:cNvPr id="7" name="Rectangle 6"/>
          <p:cNvSpPr/>
          <p:nvPr/>
        </p:nvSpPr>
        <p:spPr>
          <a:xfrm>
            <a:off x="4300000" y="1750000"/>
            <a:ext cx="7300000" cy="9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480000" y="1830000"/>
            <a:ext cx="7000000" cy="7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350" b="1">
                <a:solidFill>
                  <a:srgbClr val="010328"/>
                </a:solidFill>
                <a:latin typeface="微软雅黑"/>
              </a:rPr>
              <a:t>目标: 多源融合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2890000"/>
            <a:ext cx="620000" cy="6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0000" y="2950000"/>
            <a:ext cx="62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20000" y="2920000"/>
            <a:ext cx="10000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手册工单两库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20000" y="3780000"/>
            <a:ext cx="620000" cy="6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0000" y="3840000"/>
            <a:ext cx="62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620000" y="3810000"/>
            <a:ext cx="10000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结果融合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0000" y="4670000"/>
            <a:ext cx="620000" cy="6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0000" y="4730000"/>
            <a:ext cx="62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620000" y="4700000"/>
            <a:ext cx="10000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冲突消解策略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60000" y="5620000"/>
            <a:ext cx="10900000" cy="820000"/>
          </a:xfrm>
          <a:prstGeom prst="rect">
            <a:avLst/>
          </a:prstGeom>
          <a:solidFill>
            <a:srgbClr val="FDF0E6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40000" y="5720000"/>
            <a:ext cx="105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50" b="1">
                <a:solidFill>
                  <a:srgbClr val="010328"/>
                </a:solidFill>
                <a:latin typeface="微软雅黑"/>
              </a:rPr>
              <a:t>✔ 达标标准: 检索≥90%加融合说明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64 / 103</a:t>
            </a:r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16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A层·师傅：步骤怎么走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第1步：手册工单两库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284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73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第2步：结果融合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352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41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第3步：冲突消解策略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2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09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达标自检：检索≥90%加融合说明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65 / 103</a:t>
            </a:r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常见错误速查（避坑清单）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800000"/>
            <a:ext cx="10900000" cy="1180000"/>
          </a:xfrm>
          <a:prstGeom prst="rect">
            <a:avLst/>
          </a:prstGeom>
          <a:solidFill>
            <a:srgbClr val="FFFFFF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800000"/>
            <a:ext cx="3000000" cy="1180000"/>
          </a:xfrm>
          <a:prstGeom prst="rect">
            <a:avLst/>
          </a:prstGeom>
          <a:solidFill>
            <a:srgbClr val="FDF0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0000" y="1900000"/>
            <a:ext cx="2800000" cy="9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00" b="1">
                <a:solidFill>
                  <a:srgbClr val="F5670F"/>
                </a:solidFill>
                <a:latin typeface="微软雅黑"/>
              </a:rPr>
              <a:t>⚠ 检索全不中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950000" y="1920000"/>
            <a:ext cx="2400000" cy="9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200" b="0">
                <a:solidFill>
                  <a:srgbClr val="010328"/>
                </a:solidFill>
                <a:latin typeface="微软雅黑"/>
              </a:rPr>
              <a:t>原因: query与库用词不搭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600000" y="1920000"/>
            <a:ext cx="4900000" cy="9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200" b="0">
                <a:solidFill>
                  <a:srgbClr val="010328"/>
                </a:solidFill>
                <a:latin typeface="微软雅黑"/>
              </a:rPr>
              <a:t>✔ 解决: 同义词扩展中文bigram</a:t>
            </a:r>
          </a:p>
        </p:txBody>
      </p:sp>
      <p:sp>
        <p:nvSpPr>
          <p:cNvPr id="10" name="Rectangle 9"/>
          <p:cNvSpPr/>
          <p:nvPr/>
        </p:nvSpPr>
        <p:spPr>
          <a:xfrm>
            <a:off x="760000" y="3100000"/>
            <a:ext cx="10900000" cy="1180000"/>
          </a:xfrm>
          <a:prstGeom prst="rect">
            <a:avLst/>
          </a:prstGeom>
          <a:solidFill>
            <a:srgbClr val="FFFFFF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60000" y="3100000"/>
            <a:ext cx="3000000" cy="1180000"/>
          </a:xfrm>
          <a:prstGeom prst="rect">
            <a:avLst/>
          </a:prstGeom>
          <a:solidFill>
            <a:srgbClr val="FDF0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0000" y="3200000"/>
            <a:ext cx="2800000" cy="9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00" b="1">
                <a:solidFill>
                  <a:srgbClr val="F5670F"/>
                </a:solidFill>
                <a:latin typeface="微软雅黑"/>
              </a:rPr>
              <a:t>⚠ 引用编号错乱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950000" y="3220000"/>
            <a:ext cx="2400000" cy="9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200" b="0">
                <a:solidFill>
                  <a:srgbClr val="010328"/>
                </a:solidFill>
                <a:latin typeface="微软雅黑"/>
              </a:rPr>
              <a:t>原因: 拼接时重排了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600000" y="3220000"/>
            <a:ext cx="4900000" cy="9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200" b="0">
                <a:solidFill>
                  <a:srgbClr val="010328"/>
                </a:solidFill>
                <a:latin typeface="微软雅黑"/>
              </a:rPr>
              <a:t>✔ 解决: 编号一次性生成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60000" y="4400000"/>
            <a:ext cx="10900000" cy="1180000"/>
          </a:xfrm>
          <a:prstGeom prst="rect">
            <a:avLst/>
          </a:prstGeom>
          <a:solidFill>
            <a:srgbClr val="FFFFFF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760000" y="4400000"/>
            <a:ext cx="3000000" cy="1180000"/>
          </a:xfrm>
          <a:prstGeom prst="rect">
            <a:avLst/>
          </a:prstGeom>
          <a:solidFill>
            <a:srgbClr val="FDF0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0000" y="4500000"/>
            <a:ext cx="2800000" cy="9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00" b="1">
                <a:solidFill>
                  <a:srgbClr val="F5670F"/>
                </a:solidFill>
                <a:latin typeface="微软雅黑"/>
              </a:rPr>
              <a:t>⚠ 回答仍幻觉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950000" y="4520000"/>
            <a:ext cx="2400000" cy="9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200" b="0">
                <a:solidFill>
                  <a:srgbClr val="010328"/>
                </a:solidFill>
                <a:latin typeface="微软雅黑"/>
              </a:rPr>
              <a:t>原因: 检索空还硬答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600000" y="4520000"/>
            <a:ext cx="4900000" cy="9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200" b="0">
                <a:solidFill>
                  <a:srgbClr val="010328"/>
                </a:solidFill>
                <a:latin typeface="微软雅黑"/>
              </a:rPr>
              <a:t>✔ 解决: 空结果走查无依据分支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66 / 103</a:t>
            </a:r>
          </a:p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课堂即时练习 2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2000000"/>
            <a:ext cx="10900000" cy="19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2000000"/>
            <a:ext cx="150000" cy="19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30000" y="2150000"/>
            <a:ext cx="10400000" cy="1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300" b="1">
                <a:solidFill>
                  <a:srgbClr val="F5670F"/>
                </a:solidFill>
                <a:latin typeface="微软雅黑"/>
              </a:rPr>
              <a:t>题目</a:t>
            </a:r>
          </a:p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运行时出现「检索全不中」，你的排查顺序是？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0000" y="4200000"/>
            <a:ext cx="109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50" b="0">
                <a:solidFill>
                  <a:srgbClr val="44546A"/>
                </a:solidFill>
                <a:latin typeface="微软雅黑"/>
              </a:rPr>
              <a:t>提示: 提示: 原因是query与库用词不搭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60000" y="5300000"/>
            <a:ext cx="109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0475B6"/>
                </a:solidFill>
                <a:latin typeface="微软雅黑"/>
              </a:rPr>
              <a:t>⏱ 3分钟 · 同桌互查 · 举手验证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67 / 103</a:t>
            </a:r>
          </a:p>
        </p:txBody>
      </p:sp>
    </p:spTree>
  </p:cSld>
  <p:clrMapOvr>
    <a:masterClrMapping/>
  </p:clrMapOvr>
</p:sld>
</file>

<file path=ppt/slides/slide6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实施步骤与注意事项（做）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00000" y="1850000"/>
            <a:ext cx="6300000" cy="4100000"/>
          </a:xfrm>
          <a:prstGeom prst="rect">
            <a:avLst/>
          </a:prstGeom>
          <a:solidFill>
            <a:srgbClr val="FFFFFF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00000" y="1980000"/>
            <a:ext cx="59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700" b="1">
                <a:solidFill>
                  <a:srgbClr val="0545E8"/>
                </a:solidFill>
                <a:latin typeface="微软雅黑"/>
              </a:rPr>
              <a:t>实施步骤</a:t>
            </a:r>
          </a:p>
        </p:txBody>
      </p:sp>
      <p:sp>
        <p:nvSpPr>
          <p:cNvPr id="7" name="Rectangle 6"/>
          <p:cNvSpPr/>
          <p:nvPr/>
        </p:nvSpPr>
        <p:spPr>
          <a:xfrm>
            <a:off x="920000" y="2660000"/>
            <a:ext cx="480000" cy="4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20000" y="2680000"/>
            <a:ext cx="480000" cy="4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FFFFF"/>
                </a:solidFill>
                <a:latin typeface="微软雅黑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520000" y="2600000"/>
            <a:ext cx="53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50" b="0">
                <a:solidFill>
                  <a:srgbClr val="010328"/>
                </a:solidFill>
                <a:latin typeface="微软雅黑"/>
              </a:rPr>
              <a:t>回顾预习卡与微课</a:t>
            </a:r>
          </a:p>
        </p:txBody>
      </p:sp>
      <p:sp>
        <p:nvSpPr>
          <p:cNvPr id="10" name="Rectangle 9"/>
          <p:cNvSpPr/>
          <p:nvPr/>
        </p:nvSpPr>
        <p:spPr>
          <a:xfrm>
            <a:off x="920000" y="2990000"/>
            <a:ext cx="480000" cy="4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20000" y="3010000"/>
            <a:ext cx="480000" cy="4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FFFFF"/>
                </a:solidFill>
                <a:latin typeface="微软雅黑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520000" y="2930000"/>
            <a:ext cx="53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50" b="0">
                <a:solidFill>
                  <a:srgbClr val="010328"/>
                </a:solidFill>
                <a:latin typeface="微软雅黑"/>
              </a:rPr>
              <a:t>知识精讲（先例后理）</a:t>
            </a:r>
          </a:p>
        </p:txBody>
      </p:sp>
      <p:sp>
        <p:nvSpPr>
          <p:cNvPr id="13" name="Rectangle 12"/>
          <p:cNvSpPr/>
          <p:nvPr/>
        </p:nvSpPr>
        <p:spPr>
          <a:xfrm>
            <a:off x="920000" y="3320000"/>
            <a:ext cx="480000" cy="4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20000" y="3340000"/>
            <a:ext cx="480000" cy="4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FFFFF"/>
                </a:solidFill>
                <a:latin typeface="微软雅黑"/>
              </a:rP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520000" y="3260000"/>
            <a:ext cx="53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50" b="0">
                <a:solidFill>
                  <a:srgbClr val="010328"/>
                </a:solidFill>
                <a:latin typeface="微软雅黑"/>
              </a:rPr>
              <a:t>演示代码骨架</a:t>
            </a:r>
          </a:p>
        </p:txBody>
      </p:sp>
      <p:sp>
        <p:nvSpPr>
          <p:cNvPr id="16" name="Rectangle 15"/>
          <p:cNvSpPr/>
          <p:nvPr/>
        </p:nvSpPr>
        <p:spPr>
          <a:xfrm>
            <a:off x="920000" y="3650000"/>
            <a:ext cx="480000" cy="4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20000" y="3670000"/>
            <a:ext cx="480000" cy="4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FFFFF"/>
                </a:solidFill>
                <a:latin typeface="微软雅黑"/>
              </a:rPr>
              <a:t>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520000" y="3590000"/>
            <a:ext cx="53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50" b="0">
                <a:solidFill>
                  <a:srgbClr val="010328"/>
                </a:solidFill>
                <a:latin typeface="微软雅黑"/>
              </a:rPr>
              <a:t>基础实现（D/C层保底）</a:t>
            </a:r>
          </a:p>
        </p:txBody>
      </p:sp>
      <p:sp>
        <p:nvSpPr>
          <p:cNvPr id="19" name="Rectangle 18"/>
          <p:cNvSpPr/>
          <p:nvPr/>
        </p:nvSpPr>
        <p:spPr>
          <a:xfrm>
            <a:off x="920000" y="3980000"/>
            <a:ext cx="480000" cy="4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20000" y="4000000"/>
            <a:ext cx="480000" cy="4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FFFFF"/>
                </a:solidFill>
                <a:latin typeface="微软雅黑"/>
              </a:rPr>
              <a:t>5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520000" y="3920000"/>
            <a:ext cx="53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50" b="0">
                <a:solidFill>
                  <a:srgbClr val="010328"/>
                </a:solidFill>
                <a:latin typeface="微软雅黑"/>
              </a:rPr>
              <a:t>小结+布置第2次课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350000" y="1850000"/>
            <a:ext cx="4300000" cy="4100000"/>
          </a:xfrm>
          <a:prstGeom prst="rect">
            <a:avLst/>
          </a:prstGeom>
          <a:solidFill>
            <a:srgbClr val="FDF0E6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550000" y="1980000"/>
            <a:ext cx="395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700" b="1">
                <a:solidFill>
                  <a:srgbClr val="F5670F"/>
                </a:solidFill>
                <a:latin typeface="微软雅黑"/>
              </a:rPr>
              <a:t>⚠ 注意事项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550000" y="2600000"/>
            <a:ext cx="3950000" cy="32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8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1. 步骤1先看工单样例再动手</a:t>
            </a:r>
          </a:p>
          <a:p>
            <a:pPr algn="l">
              <a:lnSpc>
                <a:spcPct val="130000"/>
              </a:lnSpc>
              <a:spcAft>
                <a:spcPts val="8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2. 步骤2先看工单样例再动手</a:t>
            </a:r>
          </a:p>
          <a:p>
            <a:pPr algn="l">
              <a:lnSpc>
                <a:spcPct val="130000"/>
              </a:lnSpc>
              <a:spcAft>
                <a:spcPts val="8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3. 步骤3先看工单样例再动手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68 / 103</a:t>
            </a:r>
          </a:p>
        </p:txBody>
      </p:sp>
    </p:spTree>
  </p:cSld>
  <p:clrMapOvr>
    <a:masterClrMapping/>
  </p:clrMapOvr>
</p:sld>
</file>

<file path=ppt/slides/slide6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ABCD四层任务总览（先看全貌再领任务）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D·学徒（≥60）：无RAG基线——跟做保底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284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73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C·操作员（≥70）：链路跑通——基础完成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352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41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B·组长（≥80）：参数调优——标准达成+帮带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2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09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A·师傅（≥90）：多源融合——进阶拓展+费曼讲解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0000" y="488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100000" y="477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规则：每人按工单勾选自己的层；每4周动态升降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69 / 103</a:t>
            </a:r>
          </a:p>
        </p:txBody>
      </p:sp>
    </p:spTree>
  </p:cSld>
  <p:clrMapOvr>
    <a:masterClrMapping/>
  </p:clrMapOvr>
</p:sld>
</file>

<file path=ppt/slides/slide7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操作核对清单（做完一条勾一条）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□ 步骤1：回顾预习卡与微课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284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73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□ 步骤2：知识精讲（先例后理）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352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41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□ 步骤3：演示代码骨架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2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09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□ 步骤4：基础实现（D/C层保底）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0000" y="488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100000" y="477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□ 步骤5：小结+布置第2次课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20000" y="55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100000" y="545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□ 全部勾完→同桌互查签字→提交工单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70 / 103</a:t>
            </a:r>
          </a:p>
        </p:txBody>
      </p:sp>
    </p:spTree>
  </p:cSld>
  <p:clrMapOvr>
    <a:masterClrMapping/>
  </p:clrMapOvr>
</p:sld>
</file>

<file path=ppt/slides/slide7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提交前最后一查（90秒）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□ 代码能从头跑到尾不报错（python xx.py再跑一遍）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284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73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□ 指标达标：准确率/F1/耗时对齐工单及格线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352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41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□ 随机种子已固定（random_state=42）——结果可复现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2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09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□ 文件命名：学号_姓名_工单号.py+模型文件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0000" y="488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100000" y="477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□ conda环境正确（提示符显示(ai48)）再运行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71 / 103</a:t>
            </a:r>
          </a:p>
        </p:txBody>
      </p:sp>
    </p:spTree>
  </p:cSld>
  <p:clrMapOvr>
    <a:masterClrMapping/>
  </p:clrMapOvr>
</p:sld>
</file>

<file path=ppt/slides/slide7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任务实施 · 小结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900000"/>
            <a:ext cx="2800000" cy="42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60000" y="3300000"/>
            <a:ext cx="28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5400" b="1">
                <a:solidFill>
                  <a:srgbClr val="F5670F"/>
                </a:solidFill>
                <a:latin typeface="微软雅黑"/>
              </a:rPr>
              <a:t>05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60000" y="4300000"/>
            <a:ext cx="28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部分小结</a:t>
            </a:r>
          </a:p>
        </p:txBody>
      </p:sp>
      <p:sp>
        <p:nvSpPr>
          <p:cNvPr id="8" name="Rectangle 7"/>
          <p:cNvSpPr/>
          <p:nvPr/>
        </p:nvSpPr>
        <p:spPr>
          <a:xfrm>
            <a:off x="3900000" y="2000000"/>
            <a:ext cx="140000" cy="14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180000" y="1900000"/>
            <a:ext cx="7600000" cy="5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350" b="0">
                <a:solidFill>
                  <a:srgbClr val="010328"/>
                </a:solidFill>
                <a:latin typeface="微软雅黑"/>
              </a:rPr>
              <a:t>工单M4-2已发布，四层任务各自认领</a:t>
            </a:r>
          </a:p>
        </p:txBody>
      </p:sp>
      <p:sp>
        <p:nvSpPr>
          <p:cNvPr id="10" name="Rectangle 9"/>
          <p:cNvSpPr/>
          <p:nvPr/>
        </p:nvSpPr>
        <p:spPr>
          <a:xfrm>
            <a:off x="3900000" y="2700000"/>
            <a:ext cx="140000" cy="14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180000" y="2600000"/>
            <a:ext cx="7600000" cy="5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350" b="0">
                <a:solidFill>
                  <a:srgbClr val="010328"/>
                </a:solidFill>
                <a:latin typeface="微软雅黑"/>
              </a:rPr>
              <a:t>避坑清单+错误速查在手，卡壳先自查再举手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900000" y="3400000"/>
            <a:ext cx="140000" cy="14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180000" y="3300000"/>
            <a:ext cx="7600000" cy="5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350" b="0">
                <a:solidFill>
                  <a:srgbClr val="010328"/>
                </a:solidFill>
                <a:latin typeface="微软雅黑"/>
              </a:rPr>
              <a:t>操作核对清单做完勾选，提交前90秒最后一查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72 / 103</a:t>
            </a:r>
          </a:p>
        </p:txBody>
      </p:sp>
    </p:spTree>
  </p:cSld>
  <p:clrMapOvr>
    <a:masterClrMapping/>
  </p:clrMapOvr>
</p:sld>
</file>

<file path=ppt/slides/slide7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000000" y="2650000"/>
            <a:ext cx="560000" cy="15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750000" y="2450000"/>
            <a:ext cx="9000000" cy="1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6600" b="1">
                <a:solidFill>
                  <a:srgbClr val="F5670F"/>
                </a:solidFill>
                <a:latin typeface="微软雅黑"/>
              </a:rPr>
              <a:t>06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3200" b="1">
                <a:solidFill>
                  <a:srgbClr val="FFFFFF"/>
                </a:solidFill>
                <a:latin typeface="微软雅黑"/>
              </a:rPr>
              <a:t>检查与评价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750000" y="4600000"/>
            <a:ext cx="90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0">
                <a:solidFill>
                  <a:srgbClr val="BBC6E6"/>
                </a:solidFill>
                <a:latin typeface="微软雅黑"/>
              </a:rPr>
              <a:t>三层质检 · 评分 · 课后</a:t>
            </a:r>
          </a:p>
        </p:txBody>
      </p:sp>
      <p:sp>
        <p:nvSpPr>
          <p:cNvPr id="6" name="Rectangle 5"/>
          <p:cNvSpPr/>
          <p:nvPr/>
        </p:nvSpPr>
        <p:spPr>
          <a:xfrm>
            <a:off x="810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3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01</a:t>
            </a:r>
          </a:p>
        </p:txBody>
      </p:sp>
      <p:sp>
        <p:nvSpPr>
          <p:cNvPr id="8" name="Rectangle 7"/>
          <p:cNvSpPr/>
          <p:nvPr/>
        </p:nvSpPr>
        <p:spPr>
          <a:xfrm>
            <a:off x="866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59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02</a:t>
            </a:r>
          </a:p>
        </p:txBody>
      </p:sp>
      <p:sp>
        <p:nvSpPr>
          <p:cNvPr id="10" name="Rectangle 9"/>
          <p:cNvSpPr/>
          <p:nvPr/>
        </p:nvSpPr>
        <p:spPr>
          <a:xfrm>
            <a:off x="922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5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03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78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71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04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034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27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05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0900000" y="5900000"/>
            <a:ext cx="230000" cy="230000"/>
          </a:xfrm>
          <a:prstGeom prst="rect">
            <a:avLst/>
          </a:prstGeom>
          <a:solidFill>
            <a:srgbClr val="F5670F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83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1">
                <a:solidFill>
                  <a:srgbClr val="F5670F"/>
                </a:solidFill>
                <a:latin typeface="微软雅黑"/>
              </a:rPr>
              <a:t>06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73 / 103</a:t>
            </a:r>
          </a:p>
        </p:txBody>
      </p:sp>
    </p:spTree>
  </p:cSld>
  <p:clrMapOvr>
    <a:masterClrMapping/>
  </p:clrMapOvr>
</p:sld>
</file>

<file path=ppt/slides/slide7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过程检查（三层质检）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00000" y="2300000"/>
            <a:ext cx="3300000" cy="2600000"/>
          </a:xfrm>
          <a:prstGeom prst="rect">
            <a:avLst/>
          </a:prstGeom>
          <a:solidFill>
            <a:srgbClr val="FFFFFF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00000" y="2450000"/>
            <a:ext cx="33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000" b="1">
                <a:solidFill>
                  <a:srgbClr val="0545E8"/>
                </a:solidFill>
                <a:latin typeface="微软雅黑"/>
              </a:rPr>
              <a:t>1  自检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0000" y="3200000"/>
            <a:ext cx="2900000" cy="1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30000"/>
              </a:lnSpc>
              <a:spcAft>
                <a:spcPts val="600"/>
              </a:spcAft>
            </a:pPr>
            <a:r>
              <a:rPr sz="1300" b="0">
                <a:solidFill>
                  <a:srgbClr val="44546A"/>
                </a:solidFill>
                <a:latin typeface="微软雅黑"/>
              </a:rPr>
              <a:t>对照工单checklist逐项自查并截图留证</a:t>
            </a:r>
          </a:p>
        </p:txBody>
      </p:sp>
      <p:sp>
        <p:nvSpPr>
          <p:cNvPr id="8" name="Rectangle 7"/>
          <p:cNvSpPr/>
          <p:nvPr/>
        </p:nvSpPr>
        <p:spPr>
          <a:xfrm>
            <a:off x="4250000" y="2300000"/>
            <a:ext cx="3300000" cy="2600000"/>
          </a:xfrm>
          <a:prstGeom prst="rect">
            <a:avLst/>
          </a:prstGeom>
          <a:solidFill>
            <a:srgbClr val="FFFFFF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250000" y="2450000"/>
            <a:ext cx="33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000" b="1">
                <a:solidFill>
                  <a:srgbClr val="0545E8"/>
                </a:solidFill>
                <a:latin typeface="微软雅黑"/>
              </a:rPr>
              <a:t>2  互检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450000" y="3200000"/>
            <a:ext cx="2900000" cy="1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30000"/>
              </a:lnSpc>
              <a:spcAft>
                <a:spcPts val="600"/>
              </a:spcAft>
            </a:pPr>
            <a:r>
              <a:rPr sz="1300" b="0">
                <a:solidFill>
                  <a:srgbClr val="44546A"/>
                </a:solidFill>
                <a:latin typeface="微软雅黑"/>
              </a:rPr>
              <a:t>组间交换检查，互检表记录问题≥1条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800000" y="2300000"/>
            <a:ext cx="3300000" cy="2600000"/>
          </a:xfrm>
          <a:prstGeom prst="rect">
            <a:avLst/>
          </a:prstGeom>
          <a:solidFill>
            <a:srgbClr val="FFFFFF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800000" y="2450000"/>
            <a:ext cx="33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000" b="1">
                <a:solidFill>
                  <a:srgbClr val="0545E8"/>
                </a:solidFill>
                <a:latin typeface="微软雅黑"/>
              </a:rPr>
              <a:t>3  师查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000000" y="3200000"/>
            <a:ext cx="2900000" cy="1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30000"/>
              </a:lnSpc>
              <a:spcAft>
                <a:spcPts val="600"/>
              </a:spcAft>
            </a:pPr>
            <a:r>
              <a:rPr sz="1300" b="0">
                <a:solidFill>
                  <a:srgbClr val="44546A"/>
                </a:solidFill>
                <a:latin typeface="微软雅黑"/>
              </a:rPr>
              <a:t>教师抽查复核，重点盯D层完成度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00000" y="5200000"/>
            <a:ext cx="10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5670F"/>
                </a:solidFill>
                <a:latin typeface="微软雅黑"/>
              </a:rPr>
              <a:t>复盘追问：如果当初选另一个方案，结果会怎样？（决策追责）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74 / 103</a:t>
            </a:r>
          </a:p>
        </p:txBody>
      </p:sp>
    </p:spTree>
  </p:cSld>
  <p:clrMapOvr>
    <a:masterClrMapping/>
  </p:clrMapOvr>
</p:sld>
</file>

<file path=ppt/slides/slide7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提交物与评分（工单M4-2）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800000"/>
            <a:ext cx="5300000" cy="38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000" y="1950000"/>
            <a:ext cx="4900000" cy="3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500" b="1">
                <a:solidFill>
                  <a:srgbClr val="0545E8"/>
                </a:solidFill>
                <a:latin typeface="微软雅黑"/>
              </a:rPr>
              <a:t>提交清单</a:t>
            </a:r>
          </a:p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1. 程序/notebook（含运行输出）</a:t>
            </a:r>
          </a:p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2. 分层工单纸件（勾层+自评）</a:t>
            </a:r>
          </a:p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3. 决策矩阵照片</a:t>
            </a:r>
          </a:p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4. 过程记录/避坑笔记</a:t>
            </a:r>
          </a:p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200" b="0">
                <a:solidFill>
                  <a:srgbClr val="44546A"/>
                </a:solidFill>
                <a:latin typeface="微软雅黑"/>
              </a:rPr>
              <a:t>命名: 学号_姓名_M4-2</a:t>
            </a:r>
          </a:p>
        </p:txBody>
      </p:sp>
      <p:sp>
        <p:nvSpPr>
          <p:cNvPr id="7" name="Rectangle 6"/>
          <p:cNvSpPr/>
          <p:nvPr/>
        </p:nvSpPr>
        <p:spPr>
          <a:xfrm>
            <a:off x="6350000" y="1800000"/>
            <a:ext cx="5300000" cy="3800000"/>
          </a:xfrm>
          <a:prstGeom prst="rect">
            <a:avLst/>
          </a:prstGeom>
          <a:solidFill>
            <a:srgbClr val="FFFFFF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550000" y="1950000"/>
            <a:ext cx="4900000" cy="3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500" b="1">
                <a:solidFill>
                  <a:srgbClr val="F5670F"/>
                </a:solidFill>
                <a:latin typeface="微软雅黑"/>
              </a:rPr>
              <a:t>评分构成</a:t>
            </a:r>
          </a:p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功能完成 40%</a:t>
            </a:r>
          </a:p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技术质量 25%（指标达标）</a:t>
            </a:r>
          </a:p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代码规范 20%（PEP 8）</a:t>
            </a:r>
          </a:p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工程素养 15%（留痕/协作）</a:t>
            </a:r>
          </a:p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250" b="1">
                <a:solidFill>
                  <a:srgbClr val="44546A"/>
                </a:solidFill>
                <a:latin typeface="微软雅黑"/>
              </a:rPr>
              <a:t>D≥60 / C≥70 / B≥80 / A≥90</a:t>
            </a:r>
          </a:p>
        </p:txBody>
      </p:sp>
      <p:sp>
        <p:nvSpPr>
          <p:cNvPr id="9" name="Rectangle 8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75 / 103</a:t>
            </a:r>
          </a:p>
        </p:txBody>
      </p:sp>
    </p:spTree>
  </p:cSld>
  <p:clrMapOvr>
    <a:masterClrMapping/>
  </p:clrMapOvr>
</p:sld>
</file>

<file path=ppt/slides/slide7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A层加餐：原理深挖（选读）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8500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850000"/>
            <a:ext cx="2000000" cy="10625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60000" y="21812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为什么有效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00000" y="19700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RAG三步：知识切分向量检索引用生成——应用：见工单starter与教师参考实现——背后是统计/优化原理</a:t>
            </a:r>
          </a:p>
        </p:txBody>
      </p:sp>
      <p:sp>
        <p:nvSpPr>
          <p:cNvPr id="9" name="Rectangle 8"/>
          <p:cNvSpPr/>
          <p:nvPr/>
        </p:nvSpPr>
        <p:spPr>
          <a:xfrm>
            <a:off x="760000" y="30625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60000" y="3062500"/>
            <a:ext cx="2000000" cy="10625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60000" y="33937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怎么验证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00000" y="31825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改一个参数跑对比实验——用数据说话，不凭感觉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60000" y="42750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60000" y="4275000"/>
            <a:ext cx="2000000" cy="10625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60000" y="46062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边界在哪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00000" y="43950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什么场景会失效？——数据漂移/样本不平衡/泄漏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60000" y="54875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60000" y="5487500"/>
            <a:ext cx="2000000" cy="10625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60000" y="58187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延伸阅读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900000" y="56075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微课深化版+多解法手册——A层自己挖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76 / 103</a:t>
            </a:r>
          </a:p>
        </p:txBody>
      </p:sp>
    </p:spTree>
  </p:cSld>
  <p:clrMapOvr>
    <a:masterClrMapping/>
  </p:clrMapOvr>
</p:sld>
</file>

<file path=ppt/slides/slide7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素养目标（课程思政融入点）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900000"/>
            <a:ext cx="10900000" cy="115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900000"/>
            <a:ext cx="1900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60000" y="2200000"/>
            <a:ext cx="19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FFFFF"/>
                </a:solidFill>
                <a:latin typeface="微软雅黑"/>
              </a:rPr>
              <a:t>责任感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00000" y="2060000"/>
            <a:ext cx="86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350" b="0">
                <a:solidFill>
                  <a:srgbClr val="010328"/>
                </a:solidFill>
                <a:latin typeface="微软雅黑"/>
              </a:rPr>
              <a:t>可信AI：模型要有据可查，指标不许造假</a:t>
            </a:r>
          </a:p>
        </p:txBody>
      </p:sp>
      <p:sp>
        <p:nvSpPr>
          <p:cNvPr id="9" name="Rectangle 8"/>
          <p:cNvSpPr/>
          <p:nvPr/>
        </p:nvSpPr>
        <p:spPr>
          <a:xfrm>
            <a:off x="760000" y="3180000"/>
            <a:ext cx="10900000" cy="115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60000" y="3180000"/>
            <a:ext cx="1900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60000" y="3480000"/>
            <a:ext cx="19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FFFFF"/>
                </a:solidFill>
                <a:latin typeface="微软雅黑"/>
              </a:rPr>
              <a:t>工匠精神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00000" y="3340000"/>
            <a:ext cx="86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350" b="0">
                <a:solidFill>
                  <a:srgbClr val="010328"/>
                </a:solidFill>
                <a:latin typeface="微软雅黑"/>
              </a:rPr>
              <a:t>工程纪律：限时调参与过程留痕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60000" y="4460000"/>
            <a:ext cx="10900000" cy="115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60000" y="4460000"/>
            <a:ext cx="1900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60000" y="4760000"/>
            <a:ext cx="19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FFFFF"/>
                </a:solidFill>
                <a:latin typeface="微软雅黑"/>
              </a:rPr>
              <a:t>数据伦理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00000" y="4620000"/>
            <a:ext cx="86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350" b="0">
                <a:solidFill>
                  <a:srgbClr val="010328"/>
                </a:solidFill>
                <a:latin typeface="微软雅黑"/>
              </a:rPr>
              <a:t>团队与档案：竞标协作，档案袋沉淀三年资产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77 / 103</a:t>
            </a:r>
          </a:p>
        </p:txBody>
      </p:sp>
    </p:spTree>
  </p:cSld>
  <p:clrMapOvr>
    <a:masterClrMapping/>
  </p:clrMapOvr>
</p:sld>
</file>

<file path=ppt/slides/slide7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工单评分细则（四级量表）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800000" y="2000000"/>
            <a:ext cx="3400000" cy="7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00000" y="2120000"/>
            <a:ext cx="34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FFFFF"/>
                </a:solidFill>
                <a:latin typeface="微软雅黑"/>
              </a:rPr>
              <a:t>等级</a:t>
            </a:r>
          </a:p>
        </p:txBody>
      </p:sp>
      <p:sp>
        <p:nvSpPr>
          <p:cNvPr id="7" name="Rectangle 6"/>
          <p:cNvSpPr/>
          <p:nvPr/>
        </p:nvSpPr>
        <p:spPr>
          <a:xfrm>
            <a:off x="4200000" y="2000000"/>
            <a:ext cx="2400000" cy="7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200000" y="2120000"/>
            <a:ext cx="24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FFFFF"/>
                </a:solidFill>
                <a:latin typeface="微软雅黑"/>
              </a:rPr>
              <a:t>达标线</a:t>
            </a:r>
          </a:p>
        </p:txBody>
      </p:sp>
      <p:sp>
        <p:nvSpPr>
          <p:cNvPr id="9" name="Rectangle 8"/>
          <p:cNvSpPr/>
          <p:nvPr/>
        </p:nvSpPr>
        <p:spPr>
          <a:xfrm>
            <a:off x="6600000" y="2000000"/>
            <a:ext cx="2400000" cy="7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600000" y="2120000"/>
            <a:ext cx="24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FFFFF"/>
                </a:solidFill>
                <a:latin typeface="微软雅黑"/>
              </a:rPr>
              <a:t>对应要求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00000" y="2700000"/>
            <a:ext cx="3400000" cy="62000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00000" y="2800000"/>
            <a:ext cx="3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010328"/>
                </a:solidFill>
                <a:latin typeface="微软雅黑"/>
              </a:rPr>
              <a:t>A·师傅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200000" y="2700000"/>
            <a:ext cx="2400000" cy="62000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200000" y="2800000"/>
            <a:ext cx="2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≥90分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600000" y="2700000"/>
            <a:ext cx="2400000" cy="62000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600000" y="2800000"/>
            <a:ext cx="2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进阶拓展完成+2分钟费曼展示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00000" y="3320000"/>
            <a:ext cx="3400000" cy="620000"/>
          </a:xfrm>
          <a:prstGeom prst="rect">
            <a:avLst/>
          </a:prstGeom>
          <a:solidFill>
            <a:srgbClr val="FFFFFF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00000" y="3420000"/>
            <a:ext cx="3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010328"/>
                </a:solidFill>
                <a:latin typeface="微软雅黑"/>
              </a:rPr>
              <a:t>B·组长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200000" y="3320000"/>
            <a:ext cx="2400000" cy="620000"/>
          </a:xfrm>
          <a:prstGeom prst="rect">
            <a:avLst/>
          </a:prstGeom>
          <a:solidFill>
            <a:srgbClr val="FFFFFF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200000" y="3420000"/>
            <a:ext cx="2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≥80分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600000" y="3320000"/>
            <a:ext cx="2400000" cy="620000"/>
          </a:xfrm>
          <a:prstGeom prst="rect">
            <a:avLst/>
          </a:prstGeom>
          <a:solidFill>
            <a:srgbClr val="FFFFFF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600000" y="3420000"/>
            <a:ext cx="2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全功能+代码规范+帮带D/C层</a:t>
            </a:r>
          </a:p>
        </p:txBody>
      </p:sp>
      <p:sp>
        <p:nvSpPr>
          <p:cNvPr id="23" name="Rectangle 22"/>
          <p:cNvSpPr/>
          <p:nvPr/>
        </p:nvSpPr>
        <p:spPr>
          <a:xfrm>
            <a:off x="800000" y="3940000"/>
            <a:ext cx="3400000" cy="62000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00000" y="4040000"/>
            <a:ext cx="3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010328"/>
                </a:solidFill>
                <a:latin typeface="微软雅黑"/>
              </a:rPr>
              <a:t>C·操作员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200000" y="3940000"/>
            <a:ext cx="2400000" cy="62000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200000" y="4040000"/>
            <a:ext cx="2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≥70分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600000" y="3940000"/>
            <a:ext cx="2400000" cy="62000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600000" y="4040000"/>
            <a:ext cx="2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基础功能完成+错误速查自查</a:t>
            </a:r>
          </a:p>
        </p:txBody>
      </p:sp>
      <p:sp>
        <p:nvSpPr>
          <p:cNvPr id="29" name="Rectangle 28"/>
          <p:cNvSpPr/>
          <p:nvPr/>
        </p:nvSpPr>
        <p:spPr>
          <a:xfrm>
            <a:off x="800000" y="4560000"/>
            <a:ext cx="3400000" cy="620000"/>
          </a:xfrm>
          <a:prstGeom prst="rect">
            <a:avLst/>
          </a:prstGeom>
          <a:solidFill>
            <a:srgbClr val="FFFFFF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00000" y="4660000"/>
            <a:ext cx="3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010328"/>
                </a:solidFill>
                <a:latin typeface="微软雅黑"/>
              </a:rPr>
              <a:t>D·学徒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200000" y="4560000"/>
            <a:ext cx="2400000" cy="620000"/>
          </a:xfrm>
          <a:prstGeom prst="rect">
            <a:avLst/>
          </a:prstGeom>
          <a:solidFill>
            <a:srgbClr val="FFFFFF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200000" y="4660000"/>
            <a:ext cx="2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≥60分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600000" y="4560000"/>
            <a:ext cx="2400000" cy="620000"/>
          </a:xfrm>
          <a:prstGeom prst="rect">
            <a:avLst/>
          </a:prstGeom>
          <a:solidFill>
            <a:srgbClr val="FFFFFF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600000" y="4660000"/>
            <a:ext cx="2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跟做完成核心步骤+达标自评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00000" y="5300000"/>
            <a:ext cx="10600000" cy="3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F5670F"/>
                </a:solidFill>
                <a:latin typeface="微软雅黑"/>
              </a:rPr>
              <a:t>功能40%+技术质量25%+代码规范20%+工程素养15%</a:t>
            </a:r>
          </a:p>
        </p:txBody>
      </p:sp>
      <p:sp>
        <p:nvSpPr>
          <p:cNvPr id="36" name="Rectangle 35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78 / 103</a:t>
            </a:r>
          </a:p>
        </p:txBody>
      </p:sp>
    </p:spTree>
  </p:cSld>
  <p:clrMapOvr>
    <a:masterClrMapping/>
  </p:clrMapOvr>
</p:sld>
</file>

<file path=ppt/slides/slide7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高频FAQ（先自查再举手）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850000"/>
            <a:ext cx="10900000" cy="128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850000"/>
            <a:ext cx="2000000" cy="128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60000" y="229000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torch安装失败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00000" y="1970000"/>
            <a:ext cx="8500000" cy="104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用--index-url cpu官方源；确认在ai48环境里装</a:t>
            </a:r>
          </a:p>
        </p:txBody>
      </p:sp>
      <p:sp>
        <p:nvSpPr>
          <p:cNvPr id="9" name="Rectangle 8"/>
          <p:cNvSpPr/>
          <p:nvPr/>
        </p:nvSpPr>
        <p:spPr>
          <a:xfrm>
            <a:off x="760000" y="3280000"/>
            <a:ext cx="10900000" cy="128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60000" y="3280000"/>
            <a:ext cx="2000000" cy="12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60000" y="372000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模型指标波动大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00000" y="3400000"/>
            <a:ext cx="8500000" cy="104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设random_state=42；数据先shuffle再划分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60000" y="4710000"/>
            <a:ext cx="10900000" cy="128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60000" y="4710000"/>
            <a:ext cx="2000000" cy="12800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60000" y="515000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ONNX推理不一致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00000" y="4830000"/>
            <a:ext cx="8500000" cy="104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对齐预处理——同一scaler/归一化参数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79 / 103</a:t>
            </a:r>
          </a:p>
        </p:txBody>
      </p:sp>
    </p:spTree>
  </p:cSld>
  <p:clrMapOvr>
    <a:masterClrMapping/>
  </p:clrMapOvr>
</p:sld>
</file>

<file path=ppt/slides/slide8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资源导航（卡住时按顺序查）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850000"/>
            <a:ext cx="10900000" cy="82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850000"/>
            <a:ext cx="2000000" cy="82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60000" y="206000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工单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00000" y="1970000"/>
            <a:ext cx="8500000" cy="5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M4-2任务书——步骤/及格线/评分细则都在里面</a:t>
            </a:r>
          </a:p>
        </p:txBody>
      </p:sp>
      <p:sp>
        <p:nvSpPr>
          <p:cNvPr id="9" name="Rectangle 8"/>
          <p:cNvSpPr/>
          <p:nvPr/>
        </p:nvSpPr>
        <p:spPr>
          <a:xfrm>
            <a:off x="760000" y="2820000"/>
            <a:ext cx="10900000" cy="82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60000" y="2820000"/>
            <a:ext cx="2000000" cy="82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60000" y="303000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starter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00000" y="2940000"/>
            <a:ext cx="8500000" cy="5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学生代码框架/w10_xxx_starter.py——TODO注释即步骤提示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60000" y="3790000"/>
            <a:ext cx="10900000" cy="82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60000" y="3790000"/>
            <a:ext cx="2000000" cy="8200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60000" y="400000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软件指南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00000" y="3910000"/>
            <a:ext cx="8500000" cy="5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../软件操作指南/——PyCharm/Jupyter/Git/Anaconda六份图文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60000" y="4760000"/>
            <a:ext cx="10900000" cy="82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60000" y="4760000"/>
            <a:ext cx="2000000" cy="8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60000" y="497000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Jupyter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900000" y="4880000"/>
            <a:ext cx="8500000" cy="5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Jupyter实训/——本周notebook师生版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60000" y="5730000"/>
            <a:ext cx="10900000" cy="82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760000" y="5730000"/>
            <a:ext cx="2000000" cy="820000"/>
          </a:xfrm>
          <a:prstGeom prst="rect">
            <a:avLst/>
          </a:prstGeom>
          <a:solidFill>
            <a:srgbClr val="4454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60000" y="594000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Git提交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900000" y="5850000"/>
            <a:ext cx="8500000" cy="5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做完按Ctrl+K提交推送——每周至少1次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80 / 103</a:t>
            </a:r>
          </a:p>
        </p:txBody>
      </p:sp>
    </p:spTree>
  </p:cSld>
  <p:clrMapOvr>
    <a:masterClrMapping/>
  </p:clrMapOvr>
</p:sld>
</file>

<file path=ppt/slides/slide8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检查与评价 · 小结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900000"/>
            <a:ext cx="2800000" cy="42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60000" y="3300000"/>
            <a:ext cx="28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5400" b="1">
                <a:solidFill>
                  <a:srgbClr val="F5670F"/>
                </a:solidFill>
                <a:latin typeface="微软雅黑"/>
              </a:rPr>
              <a:t>06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60000" y="4300000"/>
            <a:ext cx="28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部分小结</a:t>
            </a:r>
          </a:p>
        </p:txBody>
      </p:sp>
      <p:sp>
        <p:nvSpPr>
          <p:cNvPr id="8" name="Rectangle 7"/>
          <p:cNvSpPr/>
          <p:nvPr/>
        </p:nvSpPr>
        <p:spPr>
          <a:xfrm>
            <a:off x="3900000" y="2000000"/>
            <a:ext cx="140000" cy="14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180000" y="1900000"/>
            <a:ext cx="7600000" cy="5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350" b="0">
                <a:solidFill>
                  <a:srgbClr val="010328"/>
                </a:solidFill>
                <a:latin typeface="微软雅黑"/>
              </a:rPr>
              <a:t>三层质检：自检→互查签字→教师抽查</a:t>
            </a:r>
          </a:p>
        </p:txBody>
      </p:sp>
      <p:sp>
        <p:nvSpPr>
          <p:cNvPr id="10" name="Rectangle 9"/>
          <p:cNvSpPr/>
          <p:nvPr/>
        </p:nvSpPr>
        <p:spPr>
          <a:xfrm>
            <a:off x="3900000" y="2700000"/>
            <a:ext cx="140000" cy="14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180000" y="2600000"/>
            <a:ext cx="7600000" cy="5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350" b="0">
                <a:solidFill>
                  <a:srgbClr val="010328"/>
                </a:solidFill>
                <a:latin typeface="微软雅黑"/>
              </a:rPr>
              <a:t>评分四级量表+四权重已明确，24小时内反馈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900000" y="3400000"/>
            <a:ext cx="140000" cy="14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180000" y="3300000"/>
            <a:ext cx="7600000" cy="5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350" b="0">
                <a:solidFill>
                  <a:srgbClr val="010328"/>
                </a:solidFill>
                <a:latin typeface="微软雅黑"/>
              </a:rPr>
              <a:t>课后任务+下次课预告形成学习闭环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81 / 103</a:t>
            </a:r>
          </a:p>
        </p:txBody>
      </p:sp>
    </p:spTree>
  </p:cSld>
  <p:clrMapOvr>
    <a:masterClrMapping/>
  </p:clrMapOvr>
</p:sld>
</file>

<file path=ppt/slides/slide8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000000" y="2650000"/>
            <a:ext cx="560000" cy="15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750000" y="2450000"/>
            <a:ext cx="9000000" cy="1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6600" b="1">
                <a:solidFill>
                  <a:srgbClr val="F5670F"/>
                </a:solidFill>
                <a:latin typeface="微软雅黑"/>
              </a:rPr>
              <a:t>07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3200" b="1">
                <a:solidFill>
                  <a:srgbClr val="FFFFFF"/>
                </a:solidFill>
                <a:latin typeface="微软雅黑"/>
              </a:rPr>
              <a:t>拓展与自测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750000" y="4600000"/>
            <a:ext cx="90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0">
                <a:solidFill>
                  <a:srgbClr val="BBC6E6"/>
                </a:solidFill>
                <a:latin typeface="微软雅黑"/>
              </a:rPr>
              <a:t>把今天的能力圈再画大一圈</a:t>
            </a:r>
          </a:p>
        </p:txBody>
      </p:sp>
      <p:sp>
        <p:nvSpPr>
          <p:cNvPr id="6" name="Rectangle 5"/>
          <p:cNvSpPr/>
          <p:nvPr/>
        </p:nvSpPr>
        <p:spPr>
          <a:xfrm>
            <a:off x="810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3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01</a:t>
            </a:r>
          </a:p>
        </p:txBody>
      </p:sp>
      <p:sp>
        <p:nvSpPr>
          <p:cNvPr id="8" name="Rectangle 7"/>
          <p:cNvSpPr/>
          <p:nvPr/>
        </p:nvSpPr>
        <p:spPr>
          <a:xfrm>
            <a:off x="866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59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02</a:t>
            </a:r>
          </a:p>
        </p:txBody>
      </p:sp>
      <p:sp>
        <p:nvSpPr>
          <p:cNvPr id="10" name="Rectangle 9"/>
          <p:cNvSpPr/>
          <p:nvPr/>
        </p:nvSpPr>
        <p:spPr>
          <a:xfrm>
            <a:off x="922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5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03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78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71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04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034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27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05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090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83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06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82 / 103</a:t>
            </a:r>
          </a:p>
        </p:txBody>
      </p:sp>
    </p:spTree>
  </p:cSld>
  <p:clrMapOvr>
    <a:masterClrMapping/>
  </p:clrMapOvr>
</p:sld>
</file>

<file path=ppt/slides/slide8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产业应用案例（学这个能干什么）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8500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850000"/>
            <a:ext cx="2000000" cy="10625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60000" y="21812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真实场景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00000" y="19700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质检靠老师傅目检，漏检率高且疲劳</a:t>
            </a:r>
          </a:p>
        </p:txBody>
      </p:sp>
      <p:sp>
        <p:nvSpPr>
          <p:cNvPr id="9" name="Rectangle 8"/>
          <p:cNvSpPr/>
          <p:nvPr/>
        </p:nvSpPr>
        <p:spPr>
          <a:xfrm>
            <a:off x="760000" y="30625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60000" y="3062500"/>
            <a:ext cx="2000000" cy="10625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60000" y="33937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用什么解决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00000" y="31825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分类模型+阈值规则——先自动化易判样本，人只复核疑难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60000" y="42750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60000" y="4275000"/>
            <a:ext cx="2000000" cy="10625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60000" y="46062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本课对应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00000" y="43950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M4-2的技能点即其最小实现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60000" y="54875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60000" y="5487500"/>
            <a:ext cx="2000000" cy="10625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60000" y="58187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延伸方向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900000" y="56075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视觉检测（M3）/大模型辅助诊断（M4）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83 / 103</a:t>
            </a:r>
          </a:p>
        </p:txBody>
      </p:sp>
    </p:spTree>
  </p:cSld>
  <p:clrMapOvr>
    <a:masterClrMapping/>
  </p:clrMapOvr>
</p:sld>
</file>

<file path=ppt/slides/slide8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多解法一瞥（同一任务的不同打法）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8500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850000"/>
            <a:ext cx="2000000" cy="10625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60000" y="21812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解法A·直白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00000" y="19700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按工单步骤顺序实现——好懂好调试，D/C层路线</a:t>
            </a:r>
          </a:p>
        </p:txBody>
      </p:sp>
      <p:sp>
        <p:nvSpPr>
          <p:cNvPr id="9" name="Rectangle 8"/>
          <p:cNvSpPr/>
          <p:nvPr/>
        </p:nvSpPr>
        <p:spPr>
          <a:xfrm>
            <a:off x="760000" y="30625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60000" y="3062500"/>
            <a:ext cx="2000000" cy="10625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60000" y="33937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解法B·工程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00000" y="31825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函数封装+管道化——可复用，B层路线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60000" y="42750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60000" y="4275000"/>
            <a:ext cx="2000000" cy="10625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60000" y="46062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解法C·进阶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00000" y="43950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集成/调参/特征工程组合拳——冲指标，A层路线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60000" y="54875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60000" y="5487500"/>
            <a:ext cx="2000000" cy="10625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60000" y="58187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怎么选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900000" y="56075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先让它跑起来→再让它对→最后让它准（KISS原则）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84 / 103</a:t>
            </a:r>
          </a:p>
        </p:txBody>
      </p:sp>
    </p:spTree>
  </p:cSld>
  <p:clrMapOvr>
    <a:masterClrMapping/>
  </p:clrMapOvr>
</p:sld>
</file>

<file path=ppt/slides/slide8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课程思政：如盐入水（30秒一个点）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8500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850000"/>
            <a:ext cx="2000000" cy="10625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60000" y="21812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数据诚信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00000" y="19700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指标不许造假——改数字骗过测试=产线事故的起点</a:t>
            </a:r>
          </a:p>
        </p:txBody>
      </p:sp>
      <p:sp>
        <p:nvSpPr>
          <p:cNvPr id="9" name="Rectangle 8"/>
          <p:cNvSpPr/>
          <p:nvPr/>
        </p:nvSpPr>
        <p:spPr>
          <a:xfrm>
            <a:off x="760000" y="30625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60000" y="3062500"/>
            <a:ext cx="2000000" cy="10625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60000" y="33937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可解释性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00000" y="31825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不迷信黑盒——每个预测能说出'为什么'才敢上线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60000" y="42750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60000" y="4275000"/>
            <a:ext cx="2000000" cy="10625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60000" y="46062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算力节约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00000" y="43950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CPU优先调优——绿色计算从课堂开始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60000" y="54875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60000" y="5487500"/>
            <a:ext cx="2000000" cy="10625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60000" y="58187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职业底线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900000" y="56075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模型抄袭=岗位上的'无证驾驶'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85 / 103</a:t>
            </a:r>
          </a:p>
        </p:txBody>
      </p:sp>
    </p:spTree>
  </p:cSld>
  <p:clrMapOvr>
    <a:masterClrMapping/>
  </p:clrMapOvr>
</p:sld>
</file>

<file path=ppt/slides/slide8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学习策略：这门课怎么学最有效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8500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850000"/>
            <a:ext cx="2000000" cy="10625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60000" y="21812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先例后理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00000" y="19700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先跑代码看结果，再回头懂原理——PRIMM教学法</a:t>
            </a:r>
          </a:p>
        </p:txBody>
      </p:sp>
      <p:sp>
        <p:nvSpPr>
          <p:cNvPr id="9" name="Rectangle 8"/>
          <p:cNvSpPr/>
          <p:nvPr/>
        </p:nvSpPr>
        <p:spPr>
          <a:xfrm>
            <a:off x="760000" y="30625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60000" y="3062500"/>
            <a:ext cx="2000000" cy="10625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60000" y="33937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费曼技巧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00000" y="31825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A层讲给D层听——讲得清才是真懂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60000" y="42750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60000" y="4275000"/>
            <a:ext cx="2000000" cy="10625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60000" y="46062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错题资产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00000" y="43950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每个报错记入错误速查表——期末它是复习宝典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60000" y="54875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60000" y="5487500"/>
            <a:ext cx="2000000" cy="10625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60000" y="58187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提交习惯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900000" y="56075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小步提交——调参每进一步就commit，回退不求人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86 / 103</a:t>
            </a:r>
          </a:p>
        </p:txBody>
      </p:sp>
    </p:spTree>
  </p:cSld>
  <p:clrMapOvr>
    <a:masterClrMapping/>
  </p:clrMapOvr>
</p:sld>
</file>

<file path=ppt/slides/slide8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19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进阶路线图（从今天的课往哪走）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本周：单点技能→下周：组合应用→W15：综合链路答辩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284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73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横向：M1数据→M2模型→M3视觉→M4大模型→M5智能体（全谱系）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352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41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纵向：证书线——1+X初级（M1-M3）→中级（M4）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2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09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竞赛线：校级选拔→世界职业院校技能大赛（人工智能赛道）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0000" y="488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100000" y="477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岗位线：跟做学徒→独立调参→带组师傅→AI应用工程师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87 / 103</a:t>
            </a:r>
          </a:p>
        </p:txBody>
      </p:sp>
    </p:spTree>
  </p:cSld>
  <p:clrMapOvr>
    <a:masterClrMapping/>
  </p:clrMapOvr>
</p:sld>
</file>

<file path=ppt/slides/slide8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本周各层达标预期（%）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1896000" y="2600000"/>
            <a:ext cx="1400000" cy="2800000"/>
          </a:xfrm>
          <a:prstGeom prst="rect">
            <a:avLst/>
          </a:prstGeom>
          <a:solidFill>
            <a:srgbClr val="4454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696000" y="2040000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10328"/>
                </a:solidFill>
                <a:latin typeface="微软雅黑"/>
              </a:rPr>
              <a:t>100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696000" y="5480000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44546A"/>
                </a:solidFill>
                <a:latin typeface="微软雅黑"/>
              </a:rPr>
              <a:t>D层·跟做保底</a:t>
            </a:r>
          </a:p>
        </p:txBody>
      </p:sp>
      <p:sp>
        <p:nvSpPr>
          <p:cNvPr id="8" name="Rectangle 7"/>
          <p:cNvSpPr/>
          <p:nvPr/>
        </p:nvSpPr>
        <p:spPr>
          <a:xfrm>
            <a:off x="3996000" y="3160000"/>
            <a:ext cx="1400000" cy="22400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796000" y="2600000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10328"/>
                </a:solidFill>
                <a:latin typeface="微软雅黑"/>
              </a:rPr>
              <a:t>80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796000" y="5480000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44546A"/>
                </a:solidFill>
                <a:latin typeface="微软雅黑"/>
              </a:rPr>
              <a:t>C层·基础完成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096000" y="3720000"/>
            <a:ext cx="1400000" cy="16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896000" y="3160000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10328"/>
                </a:solidFill>
                <a:latin typeface="微软雅黑"/>
              </a:rPr>
              <a:t>60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896000" y="5480000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44546A"/>
                </a:solidFill>
                <a:latin typeface="微软雅黑"/>
              </a:rPr>
              <a:t>B层·标准达成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196000" y="4560000"/>
            <a:ext cx="1400000" cy="84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996000" y="4000000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10328"/>
                </a:solidFill>
                <a:latin typeface="微软雅黑"/>
              </a:rPr>
              <a:t>30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996000" y="5480000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44546A"/>
                </a:solidFill>
                <a:latin typeface="微软雅黑"/>
              </a:rPr>
              <a:t>A层·进阶拓展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400000" y="5400000"/>
            <a:ext cx="9400000" cy="3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60000" y="6100000"/>
            <a:ext cx="109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0475B6"/>
                </a:solidFill>
                <a:latin typeface="微软雅黑"/>
              </a:rPr>
              <a:t>预期≠上限：动态升降制下人人可冲上一层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88 / 103</a:t>
            </a:r>
          </a:p>
        </p:txBody>
      </p:sp>
    </p:spTree>
  </p:cSld>
  <p:clrMapOvr>
    <a:masterClrMapping/>
  </p:clrMapOvr>
</p:sld>
</file>

<file path=ppt/slides/slide8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20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课前预习清单（下次课前完成）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7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微课知识卡：能搭建最小RAG问答链路——应用：见工单starter与教师参考（5分钟视频+导学单）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31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99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Jupyter实训notebook：先跑教师版看答案，再试学生版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378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67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预习快问：下次课quiz从微课与导学单出题——带着答案来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4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35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Git推送本周工单：还没提交的课后补上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89 / 103</a:t>
            </a:r>
          </a:p>
        </p:txBody>
      </p:sp>
    </p:spTree>
  </p:cSld>
  <p:clrMapOvr>
    <a:masterClrMapping/>
  </p:clrMapOvr>
</p:sld>
</file>

<file path=ppt/slides/slide9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21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知识口袋书（本课概念速记）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① RAG三步：知识切分向量检索引用生成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284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73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② 切分粒度：太碎丢上下文太整检索糊，先按条目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352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410000"/>
            <a:ext cx="10200000" cy="7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③ 检索双解：重合度打分(教学直观)→Chroma向量库(工程实现，见01包rag_chro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4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35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用法：睡前30秒过一遍——口袋书越翻越薄，技能越练越厚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90 / 103</a:t>
            </a:r>
          </a:p>
        </p:txBody>
      </p:sp>
    </p:spTree>
  </p:cSld>
  <p:clrMapOvr>
    <a:masterClrMapping/>
  </p:clrMapOvr>
</p:sld>
</file>

<file path=ppt/slides/slide9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输出对比：好的 vs 差的（规范从第一课开始）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8500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850000"/>
            <a:ext cx="2000000" cy="10625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60000" y="21812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好的输出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00000" y="19700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指标+阈值结论+随机种子——三件套齐全可复现</a:t>
            </a:r>
          </a:p>
        </p:txBody>
      </p:sp>
      <p:sp>
        <p:nvSpPr>
          <p:cNvPr id="9" name="Rectangle 8"/>
          <p:cNvSpPr/>
          <p:nvPr/>
        </p:nvSpPr>
        <p:spPr>
          <a:xfrm>
            <a:off x="760000" y="30625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60000" y="3062500"/>
            <a:ext cx="2000000" cy="10625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60000" y="33937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差的输出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00000" y="31825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只报一个准确率——无种子无阈值，跑第二遍就对不上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60000" y="42750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60000" y="4275000"/>
            <a:ext cx="2000000" cy="10625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60000" y="46062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差多少分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00000" y="43950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技术25%+素养15%两项就能差出40分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60000" y="54875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60000" y="5487500"/>
            <a:ext cx="2000000" cy="10625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60000" y="58187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为什么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900000" y="56075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工业模型要给人信——复现不了的指标=没交付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91 / 103</a:t>
            </a:r>
          </a:p>
        </p:txBody>
      </p:sp>
    </p:spTree>
  </p:cSld>
  <p:clrMapOvr>
    <a:masterClrMapping/>
  </p:clrMapOvr>
</p:sld>
</file>

<file path=ppt/slides/slide9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全课知识图谱回顾（一图收束）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00000" y="2700000"/>
            <a:ext cx="1700000" cy="13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60000" y="2900000"/>
            <a:ext cx="1580000" cy="11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700" b="1">
                <a:solidFill>
                  <a:srgbClr val="FFFFFF"/>
                </a:solidFill>
                <a:latin typeface="微软雅黑"/>
              </a:rPr>
              <a:t>RAG知识</a:t>
            </a:r>
          </a:p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700" b="1">
                <a:solidFill>
                  <a:srgbClr val="FFFFFF"/>
                </a:solidFill>
                <a:latin typeface="微软雅黑"/>
              </a:rPr>
              <a:t>库问答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00000" y="4300000"/>
            <a:ext cx="17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100" b="0">
                <a:solidFill>
                  <a:srgbClr val="44546A"/>
                </a:solidFill>
                <a:latin typeface="微软雅黑"/>
              </a:rPr>
              <a:t>4条分支导览</a:t>
            </a:r>
          </a:p>
        </p:txBody>
      </p:sp>
      <p:cxnSp>
        <p:nvCxnSpPr>
          <p:cNvPr id="8" name="Connector 7"/>
          <p:cNvCxnSpPr/>
          <p:nvPr/>
        </p:nvCxnSpPr>
        <p:spPr>
          <a:xfrm flipV="1">
            <a:off x="2400000" y="2040000"/>
            <a:ext cx="1050000" cy="1310000"/>
          </a:xfrm>
          <a:prstGeom prst="line">
            <a:avLst/>
          </a:prstGeom>
          <a:ln w="20320">
            <a:solidFill>
              <a:srgbClr val="B9C4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ectangle 8"/>
          <p:cNvSpPr/>
          <p:nvPr/>
        </p:nvSpPr>
        <p:spPr>
          <a:xfrm>
            <a:off x="3500000" y="1650000"/>
            <a:ext cx="8100000" cy="78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500000" y="1650000"/>
            <a:ext cx="1500000" cy="7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560000" y="1870000"/>
            <a:ext cx="1380000" cy="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微软雅黑"/>
              </a:rPr>
              <a:t>知识回顾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140000" y="1740000"/>
            <a:ext cx="6340000" cy="6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010328"/>
                </a:solidFill>
                <a:latin typeface="微软雅黑"/>
              </a:rPr>
              <a:t>RAG三步：知识切分向量检索引用生成——应用：见工单starter与教师参考实现 · 切分粒度：太碎丢上下文太整检索糊，先按条目——应用：见工单starter与教师参考实现</a:t>
            </a:r>
          </a:p>
        </p:txBody>
      </p:sp>
      <p:cxnSp>
        <p:nvCxnSpPr>
          <p:cNvPr id="13" name="Connector 12"/>
          <p:cNvCxnSpPr/>
          <p:nvPr/>
        </p:nvCxnSpPr>
        <p:spPr>
          <a:xfrm flipV="1">
            <a:off x="2400000" y="2960000"/>
            <a:ext cx="1050000" cy="390000"/>
          </a:xfrm>
          <a:prstGeom prst="line">
            <a:avLst/>
          </a:prstGeom>
          <a:ln w="20320">
            <a:solidFill>
              <a:srgbClr val="B9C4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ectangle 13"/>
          <p:cNvSpPr/>
          <p:nvPr/>
        </p:nvSpPr>
        <p:spPr>
          <a:xfrm>
            <a:off x="3500000" y="2570000"/>
            <a:ext cx="8100000" cy="78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3500000" y="2570000"/>
            <a:ext cx="1500000" cy="7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560000" y="2790000"/>
            <a:ext cx="1380000" cy="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微软雅黑"/>
              </a:rPr>
              <a:t>技能回顾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140000" y="2660000"/>
            <a:ext cx="6340000" cy="6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010328"/>
                </a:solidFill>
                <a:latin typeface="微软雅黑"/>
              </a:rPr>
              <a:t>能搭建最小RAG问答链路——应用：见工单starter与教师参考实现 · 能调top-k与相关度阈值——应用：见工单starter与教师参考实现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2400000" y="3350000"/>
            <a:ext cx="1050000" cy="530000"/>
          </a:xfrm>
          <a:prstGeom prst="line">
            <a:avLst/>
          </a:prstGeom>
          <a:ln w="20320">
            <a:solidFill>
              <a:srgbClr val="B9C4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ectangle 18"/>
          <p:cNvSpPr/>
          <p:nvPr/>
        </p:nvSpPr>
        <p:spPr>
          <a:xfrm>
            <a:off x="3500000" y="3490000"/>
            <a:ext cx="8100000" cy="78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3500000" y="3490000"/>
            <a:ext cx="1500000" cy="7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560000" y="3710000"/>
            <a:ext cx="1380000" cy="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微软雅黑"/>
              </a:rPr>
              <a:t>易错回顾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140000" y="3580000"/>
            <a:ext cx="6340000" cy="6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010328"/>
                </a:solidFill>
                <a:latin typeface="微软雅黑"/>
              </a:rPr>
              <a:t>检索全不中 · 引用编号错乱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2400000" y="3350000"/>
            <a:ext cx="1050000" cy="1450000"/>
          </a:xfrm>
          <a:prstGeom prst="line">
            <a:avLst/>
          </a:prstGeom>
          <a:ln w="20320">
            <a:solidFill>
              <a:srgbClr val="B9C4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ectangle 23"/>
          <p:cNvSpPr/>
          <p:nvPr/>
        </p:nvSpPr>
        <p:spPr>
          <a:xfrm>
            <a:off x="3500000" y="4410000"/>
            <a:ext cx="8100000" cy="78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3500000" y="4410000"/>
            <a:ext cx="1500000" cy="7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560000" y="4630000"/>
            <a:ext cx="1380000" cy="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微软雅黑"/>
              </a:rPr>
              <a:t>交付物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140000" y="4500000"/>
            <a:ext cx="6340000" cy="6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010328"/>
                </a:solidFill>
                <a:latin typeface="微软雅黑"/>
              </a:rPr>
              <a:t>工单M4-2</a:t>
            </a:r>
          </a:p>
        </p:txBody>
      </p:sp>
      <p:sp>
        <p:nvSpPr>
          <p:cNvPr id="28" name="Rectangle 27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92 / 103</a:t>
            </a:r>
          </a:p>
        </p:txBody>
      </p:sp>
    </p:spTree>
  </p:cSld>
  <p:clrMapOvr>
    <a:masterClrMapping/>
  </p:clrMapOvr>
</p:sld>
</file>

<file path=ppt/slides/slide9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常见场景应对（卡住了怎么办）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8500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850000"/>
            <a:ext cx="2000000" cy="10625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60000" y="21812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场景①代码报错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00000" y="19700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读报错最后一行→查错误速查表→举手（附截图）</a:t>
            </a:r>
          </a:p>
        </p:txBody>
      </p:sp>
      <p:sp>
        <p:nvSpPr>
          <p:cNvPr id="9" name="Rectangle 8"/>
          <p:cNvSpPr/>
          <p:nvPr/>
        </p:nvSpPr>
        <p:spPr>
          <a:xfrm>
            <a:off x="760000" y="30625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60000" y="3062500"/>
            <a:ext cx="2000000" cy="10625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60000" y="33937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场景②不知道做啥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00000" y="31825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回看操作核对清单□——第一个没勾的就是下一步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60000" y="42750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60000" y="4275000"/>
            <a:ext cx="2000000" cy="10625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60000" y="46062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场景③做完了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00000" y="43950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90秒最后一查→Git提交→帮同组D/C层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60000" y="54875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60000" y="5487500"/>
            <a:ext cx="2000000" cy="10625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60000" y="58187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场景④提前全完成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900000" y="56075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A层拓展→费曼准备→预习下次课微课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93 / 103</a:t>
            </a:r>
          </a:p>
        </p:txBody>
      </p:sp>
    </p:spTree>
  </p:cSld>
  <p:clrMapOvr>
    <a:masterClrMapping/>
  </p:clrMapOvr>
</p:sld>
</file>

<file path=ppt/slides/slide9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微课与自学资源（课后补弱/拓强）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8500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850000"/>
            <a:ext cx="2000000" cy="10625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60000" y="21812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微课知识卡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00000" y="19700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本周主题：能搭建最小RAG问答链路——应用：见工单starter与教师参考</a:t>
            </a:r>
          </a:p>
        </p:txBody>
      </p:sp>
      <p:sp>
        <p:nvSpPr>
          <p:cNvPr id="9" name="Rectangle 8"/>
          <p:cNvSpPr/>
          <p:nvPr/>
        </p:nvSpPr>
        <p:spPr>
          <a:xfrm>
            <a:off x="760000" y="30625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60000" y="3062500"/>
            <a:ext cx="2000000" cy="10625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60000" y="33937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数字人版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00000" y="31825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同内容数字人讲解——喜欢听的换着看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60000" y="42750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60000" y="4275000"/>
            <a:ext cx="2000000" cy="10625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60000" y="46062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Jupyter师生版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00000" y="43950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教师版有完整答案——先看懂再独立做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60000" y="54875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60000" y="5487500"/>
            <a:ext cx="2000000" cy="10625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60000" y="58187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多解法手册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900000" y="56075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教师参考/——同一任务三种深度解法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94 / 103</a:t>
            </a:r>
          </a:p>
        </p:txBody>
      </p:sp>
    </p:spTree>
  </p:cSld>
  <p:clrMapOvr>
    <a:masterClrMapping/>
  </p:clrMapOvr>
</p:sld>
</file>

<file path=ppt/slides/slide9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24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答辩预演（期末综合链路的彩排）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①30秒讲需求：这个模型解决什么问题、部署在哪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284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73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②60秒讲链路：数据→特征→模型→评估→部署（五段式）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352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41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③60秒讲亮点：我踩过的坑+怎么爬出来（错误速查表就是素材）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2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09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④答辩礼仪：指着屏幕讲不念稿；被问住就说'课后验证'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0000" y="488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100000" y="477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从本周开始练——W15答辩=12周彩排的总和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95 / 103</a:t>
            </a:r>
          </a:p>
        </p:txBody>
      </p:sp>
    </p:spTree>
  </p:cSld>
  <p:clrMapOvr>
    <a:masterClrMapping/>
  </p:clrMapOvr>
</p:sld>
</file>

<file path=ppt/slides/slide9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25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课堂实录清单（过程性考核证据）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□ 运行截图：训练日志+指标输出同框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284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73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□ 工单过程栏：步骤勾选+调参记录+自查记录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352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41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□ Git提交：本次课至少1条commit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2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09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□ 同伴签字：互查通过后签名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0000" y="488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100000" y="477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四项齐全=过程分满分；缺一项课后24小时内补齐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96 / 103</a:t>
            </a:r>
          </a:p>
        </p:txBody>
      </p:sp>
    </p:spTree>
  </p:cSld>
  <p:clrMapOvr>
    <a:masterClrMapping/>
  </p:clrMapOvr>
</p:sld>
</file>

<file path=ppt/slides/slide9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今日一图流总结（贴脑墙上）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7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知识：RAG三步：知识切分向量检索引用生成；切分粒度：太碎丢上下文太整检索糊，先按条；检索双解：重合度打分(教学直观)→Chr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31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990000"/>
            <a:ext cx="10200000" cy="7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技能：能搭建最小RAG问答链路——应用：见工单starter与教师参考实现；能调top-k与相关度阈值——应用：见工单starter与教师参考实现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404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93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交付：工单M4-2《RAG知识库问答（上）：基础实现》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72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61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习惯：调参每进一步就commit——每周至少1次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0000" y="54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100000" y="529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明日：课前微课+导学单（下次课quiz从中出题）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97 / 103</a:t>
            </a:r>
          </a:p>
        </p:txBody>
      </p:sp>
    </p:spTree>
  </p:cSld>
  <p:clrMapOvr>
    <a:masterClrMapping/>
  </p:clrMapOvr>
</p:sld>
</file>

<file path=ppt/slides/slide9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27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睡前自查三问（30秒）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问①今天的核心概念能一句话说清吗？——说不清回看知识卡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284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73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问②工单步骤全部勾完了吗？——没勾的明早第一件事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352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41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问③Git推送今天做了吗？——每周至少1次，工程素养分依据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2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09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三问通过=今天闭环；明天从微课开始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98 / 103</a:t>
            </a:r>
          </a:p>
        </p:txBody>
      </p:sp>
    </p:spTree>
  </p:cSld>
  <p:clrMapOvr>
    <a:masterClrMapping/>
  </p:clrMapOvr>
</p:sld>
</file>

<file path=ppt/slides/slide9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工具箱①：Git提交四步（每周必做）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8500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850000"/>
            <a:ext cx="2000000" cy="10625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60000" y="21812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第1步·暂存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00000" y="19700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PyCharm按 Ctrl+K → 勾选改动文件</a:t>
            </a:r>
          </a:p>
        </p:txBody>
      </p:sp>
      <p:sp>
        <p:nvSpPr>
          <p:cNvPr id="9" name="Rectangle 8"/>
          <p:cNvSpPr/>
          <p:nvPr/>
        </p:nvSpPr>
        <p:spPr>
          <a:xfrm>
            <a:off x="760000" y="30625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60000" y="3062500"/>
            <a:ext cx="2000000" cy="10625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60000" y="33937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第2步·提交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00000" y="31825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Commit Message 按前缀写：feat:完成W13工单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60000" y="42750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60000" y="4275000"/>
            <a:ext cx="2000000" cy="10625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60000" y="46062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第3步·推送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00000" y="43950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Ctrl+Shift+K 推送——云端可查才算交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60000" y="54875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60000" y="5487500"/>
            <a:ext cx="2000000" cy="10625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60000" y="58187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第4步·验证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900000" y="56075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网页刷新看到新提交=成功；每周≥1次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99 / 103</a:t>
            </a:r>
          </a:p>
        </p:txBody>
      </p:sp>
    </p:spTree>
  </p:cSld>
  <p:clrMapOvr>
    <a:masterClrMapping/>
  </p:clrMapOvr>
</p:sld>
</file>

<file path=ppt/slides/slide10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工具箱②：conda环境三命令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850000"/>
            <a:ext cx="10900000" cy="128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850000"/>
            <a:ext cx="2000000" cy="128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60000" y="229000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激活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00000" y="1970000"/>
            <a:ext cx="8500000" cy="104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conda activate ai48——提示符变(ai48)才对</a:t>
            </a:r>
          </a:p>
        </p:txBody>
      </p:sp>
      <p:sp>
        <p:nvSpPr>
          <p:cNvPr id="9" name="Rectangle 8"/>
          <p:cNvSpPr/>
          <p:nvPr/>
        </p:nvSpPr>
        <p:spPr>
          <a:xfrm>
            <a:off x="760000" y="3280000"/>
            <a:ext cx="10900000" cy="128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60000" y="3280000"/>
            <a:ext cx="2000000" cy="12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60000" y="372000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装包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00000" y="3400000"/>
            <a:ext cx="8500000" cy="104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激活后再 pip install——装错环境=白装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60000" y="4710000"/>
            <a:ext cx="10900000" cy="128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60000" y="4710000"/>
            <a:ext cx="2000000" cy="12800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60000" y="515000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核对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00000" y="4830000"/>
            <a:ext cx="8500000" cy="104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python -c "import sys; print(sys.executable)" 路径含envs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100 / 103</a:t>
            </a:r>
          </a:p>
        </p:txBody>
      </p:sp>
    </p:spTree>
  </p:cSld>
  <p:clrMapOvr>
    <a:masterClrMapping/>
  </p:clrMapOvr>
</p:sld>
</file>

<file path=ppt/slides/slide10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工具箱③：PyCharm效率五键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850000"/>
            <a:ext cx="10900000" cy="82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850000"/>
            <a:ext cx="2000000" cy="82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60000" y="206000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Shift+F10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00000" y="1970000"/>
            <a:ext cx="8500000" cy="5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运行当前文件（^R macOS）</a:t>
            </a:r>
          </a:p>
        </p:txBody>
      </p:sp>
      <p:sp>
        <p:nvSpPr>
          <p:cNvPr id="9" name="Rectangle 8"/>
          <p:cNvSpPr/>
          <p:nvPr/>
        </p:nvSpPr>
        <p:spPr>
          <a:xfrm>
            <a:off x="760000" y="2820000"/>
            <a:ext cx="10900000" cy="82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60000" y="2820000"/>
            <a:ext cx="2000000" cy="82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60000" y="303000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Shift+F9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00000" y="2940000"/>
            <a:ext cx="8500000" cy="5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调试——断点停在红点行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60000" y="3790000"/>
            <a:ext cx="10900000" cy="82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60000" y="3790000"/>
            <a:ext cx="2000000" cy="8200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60000" y="400000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Ctrl+Alt+L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00000" y="3910000"/>
            <a:ext cx="8500000" cy="5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格式化代码——交作业前必按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60000" y="4760000"/>
            <a:ext cx="10900000" cy="82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60000" y="4760000"/>
            <a:ext cx="2000000" cy="8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60000" y="497000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Ctrl+/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900000" y="4880000"/>
            <a:ext cx="8500000" cy="5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注释/取消注释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60000" y="5730000"/>
            <a:ext cx="10900000" cy="82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760000" y="5730000"/>
            <a:ext cx="2000000" cy="820000"/>
          </a:xfrm>
          <a:prstGeom prst="rect">
            <a:avLst/>
          </a:prstGeom>
          <a:solidFill>
            <a:srgbClr val="4454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60000" y="594000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Ctrl+`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900000" y="5850000"/>
            <a:ext cx="8500000" cy="5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开关注册终端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101 / 103</a:t>
            </a:r>
          </a:p>
        </p:txBody>
      </p:sp>
    </p:spTree>
  </p:cSld>
  <p:clrMapOvr>
    <a:masterClrMapping/>
  </p:clrMapOvr>
</p:sld>
</file>

<file path=ppt/slides/slide10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880360"/>
            <a:ext cx="12192000" cy="5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0" y="1645920"/>
            <a:ext cx="12192000" cy="1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5400" b="1">
                <a:solidFill>
                  <a:srgbClr val="FFFFFF"/>
                </a:solidFill>
                <a:latin typeface="微软雅黑"/>
              </a:rPr>
              <a:t>THANKS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0" y="3429000"/>
            <a:ext cx="12192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200" b="1">
                <a:solidFill>
                  <a:srgbClr val="F5670F"/>
                </a:solidFill>
                <a:latin typeface="微软雅黑"/>
              </a:rPr>
              <a:t>感谢聆听 · 动手实践出真知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0" y="4526280"/>
            <a:ext cx="12192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00" b="0">
                <a:solidFill>
                  <a:srgbClr val="BBC6E6"/>
                </a:solidFill>
                <a:latin typeface="微软雅黑"/>
              </a:rPr>
              <a:t>以生为本   |   做中学 · 学中做</a:t>
            </a:r>
          </a:p>
        </p:txBody>
      </p:sp>
      <p:sp>
        <p:nvSpPr>
          <p:cNvPr id="7" name="Rectangle 6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102 / 103</a:t>
            </a:r>
          </a:p>
        </p:txBody>
      </p:sp>
    </p:spTree>
  </p:cSld>
  <p:clrMapOvr>
    <a:masterClrMapping/>
  </p:clrMapOvr>
</p:sld>
</file>

<file path=ppt/slides/slide10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下次课预告（第14周）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900000"/>
            <a:ext cx="10900000" cy="16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900000"/>
            <a:ext cx="150000" cy="16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20000" y="2050000"/>
            <a:ext cx="10500000" cy="1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700" b="1">
                <a:solidFill>
                  <a:srgbClr val="010328"/>
                </a:solidFill>
                <a:latin typeface="微软雅黑"/>
              </a:rPr>
              <a:t>主题: 能跑通仿真环境随机基线——应用：见工单start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44546A"/>
                </a:solidFill>
                <a:latin typeface="微软雅黑"/>
              </a:rPr>
              <a:t>预习快问: W13课前测①：本课工单M4-2的及格线是什么？（答：检索≥80%+引用完整）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0000" y="3900000"/>
            <a:ext cx="109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0545E8"/>
                </a:solidFill>
                <a:latin typeface="微软雅黑"/>
              </a:rPr>
              <a:t>课前完成：导学单 + 预习自测 + starter环境自检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50" b="0">
                <a:solidFill>
                  <a:srgbClr val="44546A"/>
                </a:solidFill>
                <a:latin typeface="微软雅黑"/>
              </a:rPr>
              <a:t>带着问题来上课——Predict先于Run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W13-第19次课-RAG知识库问答（上）：</dc:title>
  <dc:subject>AI48授课PPT（v9风格+讲稿）</dc:subject>
  <dc:creator>工业互联网应用专业教学资源库</dc:creator>
  <cp:keywords>两江智造;AI48;岗课赛证创;课程思政;双创中心302</cp:keywords>
  <dc:description>48课时扩展版·每页备注为教师讲稿</dc:description>
  <cp:lastModifiedBy>Steve Canny</cp:lastModifiedBy>
  <cp:revision>1</cp:revision>
  <dcterms:created xsi:type="dcterms:W3CDTF">2026-09-09T00:00:00Z</dcterms:created>
  <dcterms:modified xsi:type="dcterms:W3CDTF">2026-09-09T00:00:00Z</dcterms:modified>
  <cp:category>高职高专教学文件</cp:category>
</cp:coreProperties>
</file>